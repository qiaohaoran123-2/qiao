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356" r:id="rId3"/>
    <p:sldId id="665" r:id="rId4"/>
    <p:sldId id="666" r:id="rId5"/>
    <p:sldId id="667" r:id="rId6"/>
    <p:sldId id="668" r:id="rId7"/>
    <p:sldId id="669" r:id="rId8"/>
    <p:sldId id="670" r:id="rId9"/>
    <p:sldId id="672" r:id="rId10"/>
    <p:sldId id="671" r:id="rId11"/>
    <p:sldId id="673" r:id="rId12"/>
    <p:sldId id="674" r:id="rId13"/>
    <p:sldId id="675" r:id="rId14"/>
    <p:sldId id="676" r:id="rId15"/>
    <p:sldId id="677" r:id="rId16"/>
    <p:sldId id="681" r:id="rId17"/>
    <p:sldId id="679" r:id="rId18"/>
    <p:sldId id="678" r:id="rId19"/>
    <p:sldId id="680" r:id="rId20"/>
    <p:sldId id="621" r:id="rId21"/>
    <p:sldId id="317" r:id="rId22"/>
    <p:sldId id="394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7" autoAdjust="0"/>
    <p:restoredTop sz="94561" autoAdjust="0"/>
  </p:normalViewPr>
  <p:slideViewPr>
    <p:cSldViewPr snapToGrid="0" snapToObjects="1">
      <p:cViewPr varScale="1">
        <p:scale>
          <a:sx n="92" d="100"/>
          <a:sy n="92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018DC-2C63-4E5A-93F5-2C57426E893B}" type="datetimeFigureOut">
              <a:rPr lang="zh-CN" altLang="en-US" smtClean="0"/>
              <a:t>2023-03-21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CDA2A-7ACC-4F1E-B2CF-52E5A92B24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139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CDA2A-7ACC-4F1E-B2CF-52E5A92B242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557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8783" y="209227"/>
            <a:ext cx="457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"/>
            <a:lum/>
          </a:blip>
          <a:srcRect/>
          <a:stretch>
            <a:fillRect l="22000" t="9000" r="26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60431"/>
            <a:ext cx="720000" cy="288000"/>
          </a:xfrm>
          <a:prstGeom prst="rect">
            <a:avLst/>
          </a:prstGeom>
          <a:solidFill>
            <a:srgbClr val="81262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8902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812625"/>
              </a:solidFill>
              <a:effectLst/>
              <a:uLnTx/>
              <a:uFillTx/>
              <a:latin typeface="Noto Sans S Chinese Light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/>
          <p:nvPr/>
        </p:nvSpPr>
        <p:spPr>
          <a:xfrm>
            <a:off x="914400" y="685800"/>
            <a:ext cx="10363200" cy="2127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信息学奥赛</a:t>
            </a:r>
            <a:r>
              <a:rPr kumimoji="0" lang="zh-CN" altLang="en-US" sz="5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算法提高</a:t>
            </a:r>
            <a:endParaRPr kumimoji="0" lang="zh-CN" altLang="zh-CN" sz="5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aramond" panose="02020404030301010803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1828800" y="3270250"/>
            <a:ext cx="8534400" cy="2209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状压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DP</a:t>
            </a: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638" y="228600"/>
            <a:ext cx="1606550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619020" y="4865187"/>
            <a:ext cx="231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戴伯兮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&lt;&lt;” “&gt;&gt;”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54794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“左移”“右移”运算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将一个二进制数向左或向右移动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位，即一个数乘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末尾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FF8D772F-F9AE-8F1D-125D-F73A42452EBE}"/>
              </a:ext>
            </a:extLst>
          </p:cNvPr>
          <p:cNvSpPr txBox="1"/>
          <p:nvPr/>
        </p:nvSpPr>
        <p:spPr>
          <a:xfrm>
            <a:off x="1419225" y="4743450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常见基础应用：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1&lt;&lt;k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~”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54794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取反运算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对一个二进制数按位取反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包括符号位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来说，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~ x=-x-1</a:t>
            </a:r>
          </a:p>
        </p:txBody>
      </p:sp>
    </p:spTree>
    <p:extLst>
      <p:ext uri="{BB962C8B-B14F-4D97-AF65-F5344CB8AC3E}">
        <p14:creationId xmlns:p14="http://schemas.microsoft.com/office/powerpoint/2010/main" val="156684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419225" y="4743450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常见基础应用：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判断奇偶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&amp; 1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54794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对于两个二进制数的每一位，如果这一位都是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，那么这一位为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，否则这一位为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1526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|”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419225" y="4743449"/>
            <a:ext cx="8973820" cy="16704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简单的规律：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&amp; y &lt;=x</a:t>
            </a:r>
          </a:p>
          <a:p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| y &gt;=x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54794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对于两个二进制数的每一位，如果这两个数此位有一个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那么此位就是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99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^”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419225" y="4487909"/>
            <a:ext cx="8973820" cy="258481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简单规律：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a^a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^ 1 =x+1 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奇数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^ 1 =x-1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满足交换律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^ y=z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^ z=x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^ z=y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54794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异或运算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对二进制数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的每一位，如果相同则为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847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12511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异或简单的例子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个数，其中只有一个数出现过一次，其余都成对出现，问只出现过一次的那个数是哪个数。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19225" y="3758837"/>
            <a:ext cx="8973820" cy="12511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利用异或的性质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^ x=0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，将所有数异或起来，最后剩下来的那个数就是答案了。</a:t>
            </a:r>
          </a:p>
        </p:txBody>
      </p:sp>
    </p:spTree>
    <p:extLst>
      <p:ext uri="{BB962C8B-B14F-4D97-AF65-F5344CB8AC3E}">
        <p14:creationId xmlns:p14="http://schemas.microsoft.com/office/powerpoint/2010/main" val="341802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125113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异或简单的例子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^ 2 ^ 3 ^ 4 ^ … ^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19225" y="3758837"/>
            <a:ext cx="8973820" cy="30991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为奇数时，假设一个奇数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x^(x-1)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结果一定是为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的。所以问题转换成，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（数列中奇数的个数）个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进行异或操作。如果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是奇数就是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，偶数就是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为偶数时，只要把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当成上述情况进行计算，最后再特殊做一步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^n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的操作就行了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79392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88392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经典应用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lowbit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19225" y="5144676"/>
            <a:ext cx="8973820" cy="111324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主要的应用就是树状数组了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当然也可以用来计算二进制数中出现了多少个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8CAA802-6E9F-8AB4-E3A1-C1C6170BA0B8}"/>
              </a:ext>
            </a:extLst>
          </p:cNvPr>
          <p:cNvSpPr txBox="1"/>
          <p:nvPr/>
        </p:nvSpPr>
        <p:spPr>
          <a:xfrm>
            <a:off x="1419225" y="2749732"/>
            <a:ext cx="8973820" cy="173817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根据取反运算的性质，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(-x)=( ~ x)+1 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最低的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所在位是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[0,i-1]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全设成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[i+1,31]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位全部取反。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所以我们可以得出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&amp; (-x)=2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8118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位运算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8973820" cy="232614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运算符优先级：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~ )  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位左移、位右移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位与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位或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位异或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赋值符号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所以一般位运算最好打括号，以防记错</a:t>
            </a:r>
          </a:p>
        </p:txBody>
      </p:sp>
    </p:spTree>
    <p:extLst>
      <p:ext uri="{BB962C8B-B14F-4D97-AF65-F5344CB8AC3E}">
        <p14:creationId xmlns:p14="http://schemas.microsoft.com/office/powerpoint/2010/main" val="393156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509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状态压缩：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一般基础的状压就是将一行的状态压成一个数，这个数的二进制形式反映了这一行的情况。此时就需要位运算帮助解决一些问题。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状态压缩其实是一种并没有改变本质的优化方法。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中，阶段还是要照分，状态还是老样子，决策依旧要做，转移方程还是得列，最优还是最优，无后效性还是无后效性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95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AE455823-84C0-F0AF-9FD3-4673129834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 b="2835"/>
          <a:stretch/>
        </p:blipFill>
        <p:spPr>
          <a:xfrm>
            <a:off x="1846217" y="2011680"/>
            <a:ext cx="7807234" cy="470262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DECE938-747E-7667-8EBB-D5D6215AEB71}"/>
              </a:ext>
            </a:extLst>
          </p:cNvPr>
          <p:cNvSpPr txBox="1"/>
          <p:nvPr/>
        </p:nvSpPr>
        <p:spPr>
          <a:xfrm>
            <a:off x="1419225" y="1498601"/>
            <a:ext cx="2604135" cy="51308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常见操作</a:t>
            </a:r>
          </a:p>
        </p:txBody>
      </p:sp>
    </p:spTree>
    <p:extLst>
      <p:ext uri="{BB962C8B-B14F-4D97-AF65-F5344CB8AC3E}">
        <p14:creationId xmlns:p14="http://schemas.microsoft.com/office/powerpoint/2010/main" val="359610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509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盏灯，以及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个按钮。每个按钮可以同时控制这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盏灯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按下了第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个按钮，对于所有的灯都有一个效果。按下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按钮对于第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盏灯，是下面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中效果之一：如果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，那么当这盏灯开了的时候，把它关上，否则不管；如果为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的话，如果这盏灯是关的，那么把它打开，否则也不管；如果是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，无论这灯是否开，都不管。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现在这些灯都是开的，给出所有开关对所有灯的控制效果，求问最少要按几下按钮才能全部关掉。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n&lt;=10,m&lt;=100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091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2"/>
            <a:ext cx="8973820" cy="61533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n&lt;=10!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BBABA3A-E449-E155-49CA-35F466981DE5}"/>
              </a:ext>
            </a:extLst>
          </p:cNvPr>
          <p:cNvSpPr txBox="1"/>
          <p:nvPr/>
        </p:nvSpPr>
        <p:spPr>
          <a:xfrm>
            <a:off x="1419225" y="2579842"/>
            <a:ext cx="3850865" cy="55664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暴搜！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90BEA63-C850-38D0-A497-37C5FD768815}"/>
              </a:ext>
            </a:extLst>
          </p:cNvPr>
          <p:cNvSpPr txBox="1"/>
          <p:nvPr/>
        </p:nvSpPr>
        <p:spPr>
          <a:xfrm>
            <a:off x="1419225" y="3721510"/>
            <a:ext cx="8973820" cy="70546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状态是个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位数，无法放在下标中，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xmlns="" id="{FBD023D9-BBCF-ED0F-434D-D76789575DFB}"/>
              </a:ext>
            </a:extLst>
          </p:cNvPr>
          <p:cNvSpPr/>
          <p:nvPr/>
        </p:nvSpPr>
        <p:spPr>
          <a:xfrm>
            <a:off x="2025445" y="1956619"/>
            <a:ext cx="452284" cy="6153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xmlns="" id="{8E4E94E3-005B-27E5-28A7-3DC91B193EB0}"/>
              </a:ext>
            </a:extLst>
          </p:cNvPr>
          <p:cNvSpPr/>
          <p:nvPr/>
        </p:nvSpPr>
        <p:spPr>
          <a:xfrm>
            <a:off x="2025445" y="3029970"/>
            <a:ext cx="452284" cy="6153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DD1488E0-2B7C-3E16-BA82-20B07C53BB52}"/>
              </a:ext>
            </a:extLst>
          </p:cNvPr>
          <p:cNvSpPr txBox="1"/>
          <p:nvPr/>
        </p:nvSpPr>
        <p:spPr>
          <a:xfrm>
            <a:off x="1419225" y="4899736"/>
            <a:ext cx="8973820" cy="70546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状压压缩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xmlns="" id="{314E4690-2923-3B58-F804-3A4B9A5EAE06}"/>
              </a:ext>
            </a:extLst>
          </p:cNvPr>
          <p:cNvSpPr/>
          <p:nvPr/>
        </p:nvSpPr>
        <p:spPr>
          <a:xfrm>
            <a:off x="2025445" y="4208196"/>
            <a:ext cx="452284" cy="6153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39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 animBg="1"/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240228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每个灯只有开关状态，即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那么只要一个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位的二进制数就可以了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。只要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-1=1023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这么多种状态就好了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D4FDA491-1E0B-9482-8B1A-5BB7EFBB9019}"/>
              </a:ext>
            </a:extLst>
          </p:cNvPr>
          <p:cNvSpPr txBox="1"/>
          <p:nvPr/>
        </p:nvSpPr>
        <p:spPr>
          <a:xfrm>
            <a:off x="1419225" y="4578763"/>
            <a:ext cx="8973820" cy="7011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经常会用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(1&lt;&lt;n)-1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位的状态置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，表达初始状态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5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1"/>
            <a:ext cx="8973820" cy="389930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在处理开关，进行开关具体的灯，进行状态改变时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F2692C7-217E-44FA-ACC2-B5D797C4D415}"/>
              </a:ext>
            </a:extLst>
          </p:cNvPr>
          <p:cNvSpPr txBox="1"/>
          <p:nvPr/>
        </p:nvSpPr>
        <p:spPr>
          <a:xfrm>
            <a:off x="4798664" y="2342735"/>
            <a:ext cx="3274142" cy="55665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now&amp;(1&lt;&lt;i-1)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5061341E-A0D7-6D9E-5EE2-DA50CF07CA89}"/>
              </a:ext>
            </a:extLst>
          </p:cNvPr>
          <p:cNvSpPr txBox="1"/>
          <p:nvPr/>
        </p:nvSpPr>
        <p:spPr>
          <a:xfrm>
            <a:off x="4798664" y="3122158"/>
            <a:ext cx="3274142" cy="4545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now^(1&lt;&lt;i-1)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C9896C17-C918-F773-822F-2ED13B6156E5}"/>
              </a:ext>
            </a:extLst>
          </p:cNvPr>
          <p:cNvSpPr txBox="1"/>
          <p:nvPr/>
        </p:nvSpPr>
        <p:spPr>
          <a:xfrm>
            <a:off x="4798664" y="3789583"/>
            <a:ext cx="3274142" cy="4545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now|(1&lt;&lt;i-1)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EA395F19-D345-3F7A-9CF5-06363C01864C}"/>
              </a:ext>
            </a:extLst>
          </p:cNvPr>
          <p:cNvSpPr txBox="1"/>
          <p:nvPr/>
        </p:nvSpPr>
        <p:spPr>
          <a:xfrm>
            <a:off x="1419225" y="2358617"/>
            <a:ext cx="3870530" cy="62619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位是否为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C648C87C-B102-2C2E-787F-BB2F245AD00F}"/>
              </a:ext>
            </a:extLst>
          </p:cNvPr>
          <p:cNvSpPr txBox="1"/>
          <p:nvPr/>
        </p:nvSpPr>
        <p:spPr>
          <a:xfrm>
            <a:off x="1419225" y="3065256"/>
            <a:ext cx="3565730" cy="62619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85D7890-0F62-19A2-4CB3-72A6128E7438}"/>
              </a:ext>
            </a:extLst>
          </p:cNvPr>
          <p:cNvSpPr txBox="1"/>
          <p:nvPr/>
        </p:nvSpPr>
        <p:spPr>
          <a:xfrm>
            <a:off x="1419225" y="3748243"/>
            <a:ext cx="3379439" cy="62619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8C35916-364B-81F8-4B24-BF0B43500D27}"/>
              </a:ext>
            </a:extLst>
          </p:cNvPr>
          <p:cNvSpPr txBox="1"/>
          <p:nvPr/>
        </p:nvSpPr>
        <p:spPr>
          <a:xfrm>
            <a:off x="1419225" y="4589232"/>
            <a:ext cx="4280258" cy="55665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其余操作同基础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560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2"/>
            <a:ext cx="8973820" cy="65466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状态压缩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A0B10B33-EC5A-A975-21A1-D8C16B334597}"/>
              </a:ext>
            </a:extLst>
          </p:cNvPr>
          <p:cNvSpPr txBox="1"/>
          <p:nvPr/>
        </p:nvSpPr>
        <p:spPr>
          <a:xfrm>
            <a:off x="1419225" y="4635815"/>
            <a:ext cx="2631665" cy="81125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是否正确？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6FA4A72F-8415-6877-81D4-0EE117790717}"/>
              </a:ext>
            </a:extLst>
          </p:cNvPr>
          <p:cNvSpPr txBox="1"/>
          <p:nvPr/>
        </p:nvSpPr>
        <p:spPr>
          <a:xfrm>
            <a:off x="1419225" y="2210434"/>
            <a:ext cx="8973820" cy="65466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表示代表到达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这种状态的最少操作次数。</a:t>
            </a: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D86624A-9C47-49B9-A0E8-E75622771C8A}"/>
              </a:ext>
            </a:extLst>
          </p:cNvPr>
          <p:cNvSpPr txBox="1"/>
          <p:nvPr/>
        </p:nvSpPr>
        <p:spPr>
          <a:xfrm>
            <a:off x="1419225" y="3054767"/>
            <a:ext cx="8973820" cy="1034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(1&lt;&lt;n)-1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盏灯都亮，其余的就是普通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做的事</a:t>
            </a:r>
          </a:p>
        </p:txBody>
      </p:sp>
    </p:spTree>
    <p:extLst>
      <p:ext uri="{BB962C8B-B14F-4D97-AF65-F5344CB8AC3E}">
        <p14:creationId xmlns:p14="http://schemas.microsoft.com/office/powerpoint/2010/main" val="249424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2"/>
            <a:ext cx="8973820" cy="151957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关闭后仍然可能会开启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不能以状态的大小关系来判定其枚举顺序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朴素的枚举顺序并不正确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F0BF9784-1C3B-E28B-A662-D4AB98C9C7CC}"/>
              </a:ext>
            </a:extLst>
          </p:cNvPr>
          <p:cNvSpPr txBox="1"/>
          <p:nvPr/>
        </p:nvSpPr>
        <p:spPr>
          <a:xfrm>
            <a:off x="1419225" y="5107526"/>
            <a:ext cx="8973820" cy="68825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一般能状压的题，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都不会太大，一般不超过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04A6685-CA4D-F20F-F8EF-C9AA014BB457}"/>
              </a:ext>
            </a:extLst>
          </p:cNvPr>
          <p:cNvSpPr txBox="1"/>
          <p:nvPr/>
        </p:nvSpPr>
        <p:spPr>
          <a:xfrm>
            <a:off x="1419225" y="3504459"/>
            <a:ext cx="8973820" cy="111678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但是洛谷数据过水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，简单顺序的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重点体会思想</a:t>
            </a:r>
          </a:p>
        </p:txBody>
      </p:sp>
    </p:spTree>
    <p:extLst>
      <p:ext uri="{BB962C8B-B14F-4D97-AF65-F5344CB8AC3E}">
        <p14:creationId xmlns:p14="http://schemas.microsoft.com/office/powerpoint/2010/main" val="374213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状态压缩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4" y="1498601"/>
            <a:ext cx="10615460" cy="409595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nn-NO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大致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dp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过程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r=(1&lt;&lt;n)-1</a:t>
            </a:r>
          </a:p>
          <a:p>
            <a:pPr marL="0" indent="0">
              <a:buNone/>
            </a:pPr>
            <a:r>
              <a:rPr lang="nn-NO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nn-NO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i=0; i&lt;=r; i++) </a:t>
            </a:r>
            <a:r>
              <a:rPr lang="nn-NO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所有状态</a:t>
            </a:r>
            <a:endParaRPr lang="nn-NO" altLang="zh-CN" sz="2800" b="0" i="0" u="none" strike="noStrike" baseline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latin typeface="Consolas" panose="020B0609020204030204" pitchFamily="49" charset="0"/>
              </a:rPr>
              <a:t>  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j=1; j&lt;=m; </a:t>
            </a:r>
            <a:r>
              <a:rPr lang="en-US" altLang="zh-CN" sz="2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所有操作</a:t>
            </a:r>
            <a:endParaRPr lang="en-US" altLang="zh-CN" sz="2800" b="0" i="0" u="none" strike="noStrike" baseline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latin typeface="Consolas" panose="020B0609020204030204" pitchFamily="49" charset="0"/>
              </a:rPr>
              <a:t>    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k=1; k&lt;=n; k++) { </a:t>
            </a:r>
            <a:r>
              <a:rPr lang="en-US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状态的每一位</a:t>
            </a:r>
            <a:endParaRPr lang="en-US" altLang="zh-CN" sz="2800" b="0" i="0" u="none" strike="noStrike" baseline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800" b="0" i="0" u="none" strike="noStrike" baseline="0" dirty="0">
                <a:latin typeface="Consolas" panose="020B0609020204030204" pitchFamily="49" charset="0"/>
              </a:rPr>
              <a:t>      </a:t>
            </a:r>
            <a:r>
              <a:rPr lang="en-US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位运算得到新状态</a:t>
            </a:r>
            <a:r>
              <a:rPr lang="en-US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New</a:t>
            </a:r>
          </a:p>
          <a:p>
            <a:pPr marL="0" indent="0">
              <a:buNone/>
            </a:pPr>
            <a:r>
              <a:rPr lang="nn-NO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dp[New]=min(dp[New],dp[i]+1);</a:t>
            </a:r>
            <a:r>
              <a:rPr lang="nn-NO" altLang="zh-CN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 b="0" i="0" u="none" strike="noStrike" baseline="0" dirty="0">
                <a:solidFill>
                  <a:srgbClr val="008000"/>
                </a:solidFill>
                <a:latin typeface="Consolas" panose="020B0609020204030204" pitchFamily="49" charset="0"/>
              </a:rPr>
              <a:t>刷表法更新</a:t>
            </a:r>
            <a:endParaRPr lang="nn-NO" altLang="zh-CN" sz="2800" b="0" i="0" u="none" strike="noStrike" baseline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800" b="0" i="0" u="none" strike="noStrike" baseline="0" dirty="0">
                <a:latin typeface="Consolas" panose="020B0609020204030204" pitchFamily="49" charset="0"/>
              </a:rPr>
              <a:t>    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A84852A-6E4E-64A7-13BE-805C1EA0A2CF}"/>
              </a:ext>
            </a:extLst>
          </p:cNvPr>
          <p:cNvSpPr txBox="1"/>
          <p:nvPr/>
        </p:nvSpPr>
        <p:spPr>
          <a:xfrm>
            <a:off x="1419225" y="5682342"/>
            <a:ext cx="1766427" cy="8135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15587F54-A94D-9F91-EF8C-A4E39473378A}"/>
              </a:ext>
            </a:extLst>
          </p:cNvPr>
          <p:cNvSpPr txBox="1"/>
          <p:nvPr/>
        </p:nvSpPr>
        <p:spPr>
          <a:xfrm>
            <a:off x="3034941" y="5682342"/>
            <a:ext cx="3231433" cy="57558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mn)</a:t>
            </a:r>
          </a:p>
        </p:txBody>
      </p:sp>
    </p:spTree>
    <p:extLst>
      <p:ext uri="{BB962C8B-B14F-4D97-AF65-F5344CB8AC3E}">
        <p14:creationId xmlns:p14="http://schemas.microsoft.com/office/powerpoint/2010/main" val="78962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/>
          <p:nvPr/>
        </p:nvSpPr>
        <p:spPr>
          <a:xfrm>
            <a:off x="2133600" y="600075"/>
            <a:ext cx="6707188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en-US" altLang="zh-CN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4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练习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9225" y="1498600"/>
            <a:ext cx="9352280" cy="53594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团队——“动态规划——状压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P1469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找筷子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P3908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数列之异或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P1171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售货员的难题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P2622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关灯问题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状压搜索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P2915 Mixed Up Cows G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简单题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P1879 Corn Fields G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简单题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P1896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互不侵犯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简单题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P2704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炮兵阵地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状压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简单题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P2473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奖励关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加入了一点点数学期望</a:t>
            </a: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P2157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学校食堂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P2167 Bill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的挑战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附加题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609600" y="277813"/>
            <a:ext cx="10972800" cy="11398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总结回顾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841514" y="1600200"/>
            <a:ext cx="8229600" cy="485838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lang="zh-CN" altLang="en-US" sz="4000" kern="0" dirty="0">
                <a:solidFill>
                  <a:srgbClr val="000000"/>
                </a:solidFill>
                <a:latin typeface="Verdana" panose="020B0604030504040204"/>
                <a:ea typeface="宋体" panose="02010600030101010101" pitchFamily="2" charset="-122"/>
              </a:rPr>
              <a:t>位运算</a:t>
            </a:r>
            <a:endParaRPr lang="en-US" altLang="zh-CN" sz="4000" kern="0" dirty="0">
              <a:solidFill>
                <a:srgbClr val="000000"/>
              </a:solidFill>
              <a:latin typeface="Verdana" panose="020B0604030504040204"/>
              <a:ea typeface="宋体" panose="0201060003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3200" kern="0" dirty="0">
                <a:solidFill>
                  <a:srgbClr val="000000"/>
                </a:solidFill>
                <a:latin typeface="Verdana"/>
                <a:ea typeface="宋体"/>
              </a:rPr>
              <a:t>位运算符号</a:t>
            </a:r>
            <a:endParaRPr lang="en-US" altLang="zh-CN" sz="32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位运算经典小题目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状态压缩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400050" lvl="1" indent="0">
              <a:buClr>
                <a:schemeClr val="accent1"/>
              </a:buClr>
              <a:buNone/>
              <a:defRPr/>
            </a:pPr>
            <a:endParaRPr lang="en-US" altLang="zh-CN" sz="2800" kern="0" dirty="0">
              <a:solidFill>
                <a:srgbClr val="000000"/>
              </a:solidFill>
              <a:latin typeface="Verdana"/>
              <a:ea typeface="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None/>
              <a:defRPr/>
            </a:pPr>
            <a:endParaRPr lang="zh-CN" altLang="en-US" sz="4000" kern="0" dirty="0">
              <a:solidFill>
                <a:srgbClr val="000000"/>
              </a:solidFill>
              <a:latin typeface="Verdana" panose="020B0604030504040204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00"/>
              </a:buClr>
              <a:buSzPct val="75000"/>
              <a:buNone/>
              <a:defRPr/>
            </a:pP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09600" y="277813"/>
            <a:ext cx="10972800" cy="11398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aramond" panose="02020404030301010803"/>
                <a:ea typeface="宋体" panose="02010600030101010101" pitchFamily="2" charset="-122"/>
                <a:cs typeface="+mj-cs"/>
              </a:rPr>
              <a:t>课后练习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9082" y="1644141"/>
            <a:ext cx="8288802" cy="52322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zh-CN" altLang="en-US" sz="2800" b="1" noProof="1">
                <a:latin typeface="Hannotate SC" charset="-122"/>
                <a:ea typeface="Hannotate SC" charset="-122"/>
                <a:cs typeface="Hannotate SC" charset="-122"/>
              </a:rPr>
              <a:t>课上全部练习题</a:t>
            </a:r>
            <a:endParaRPr lang="en-US" altLang="zh-CN" sz="2800" b="1" noProof="1">
              <a:latin typeface="Hannotate SC" charset="-122"/>
              <a:ea typeface="Hannotate SC" charset="-122"/>
              <a:cs typeface="Hannotate SC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RmMmIzMjI3Mzg0ZTJlOTc4YTQzZjBkOTE0MzU4YW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1099</Words>
  <Application>Microsoft Office PowerPoint</Application>
  <PresentationFormat>宽屏</PresentationFormat>
  <Paragraphs>133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Hannotate SC</vt:lpstr>
      <vt:lpstr>Noto Sans S Chinese Light</vt:lpstr>
      <vt:lpstr>等线</vt:lpstr>
      <vt:lpstr>宋体</vt:lpstr>
      <vt:lpstr>微软雅黑</vt:lpstr>
      <vt:lpstr>Arial</vt:lpstr>
      <vt:lpstr>Consolas</vt:lpstr>
      <vt:lpstr>Garamond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1019378615@qq.com</dc:creator>
  <cp:lastModifiedBy>PC</cp:lastModifiedBy>
  <cp:revision>389</cp:revision>
  <dcterms:created xsi:type="dcterms:W3CDTF">2021-09-18T07:35:00Z</dcterms:created>
  <dcterms:modified xsi:type="dcterms:W3CDTF">2023-03-21T08:25:24Z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B57A25AD43F546C1BBE4D5EA1575B0B5</vt:lpwstr>
  </property>
  <property fmtid="{D5CDD505-2E9C-101B-9397-08002B2CF9AE}" pid="3" name="KSOProductBuildVer">
    <vt:lpwstr>2052-11.1.0.11411</vt:lpwstr>
  </property>
</Properties>
</file>
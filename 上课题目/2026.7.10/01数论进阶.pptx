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3"/>
    <p:sldId id="506" r:id="rId4"/>
    <p:sldId id="507" r:id="rId5"/>
    <p:sldId id="509" r:id="rId6"/>
    <p:sldId id="548" r:id="rId7"/>
    <p:sldId id="510" r:id="rId8"/>
    <p:sldId id="511" r:id="rId9"/>
    <p:sldId id="588" r:id="rId10"/>
    <p:sldId id="512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0" r:id="rId19"/>
    <p:sldId id="521" r:id="rId20"/>
    <p:sldId id="522" r:id="rId21"/>
    <p:sldId id="523" r:id="rId22"/>
    <p:sldId id="524" r:id="rId23"/>
    <p:sldId id="525" r:id="rId24"/>
    <p:sldId id="526" r:id="rId25"/>
    <p:sldId id="527" r:id="rId26"/>
    <p:sldId id="528" r:id="rId27"/>
    <p:sldId id="589" r:id="rId28"/>
    <p:sldId id="592" r:id="rId29"/>
    <p:sldId id="529" r:id="rId30"/>
    <p:sldId id="530" r:id="rId31"/>
    <p:sldId id="531" r:id="rId32"/>
    <p:sldId id="532" r:id="rId33"/>
    <p:sldId id="533" r:id="rId34"/>
    <p:sldId id="628" r:id="rId35"/>
    <p:sldId id="534" r:id="rId36"/>
    <p:sldId id="535" r:id="rId37"/>
    <p:sldId id="536" r:id="rId38"/>
    <p:sldId id="630" r:id="rId39"/>
    <p:sldId id="629" r:id="rId40"/>
    <p:sldId id="591" r:id="rId41"/>
    <p:sldId id="537" r:id="rId42"/>
    <p:sldId id="538" r:id="rId43"/>
    <p:sldId id="640" r:id="rId44"/>
    <p:sldId id="539" r:id="rId45"/>
    <p:sldId id="631" r:id="rId46"/>
    <p:sldId id="632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handoutMaster" Target="handoutMasters/handoutMaster1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6559"/>
            <a:ext cx="10515600" cy="73705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BB581-887E-4AE5-86C3-87B9ABF61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EF253-1A83-441D-9366-7AF1DCDA7A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18005" y="1488440"/>
            <a:ext cx="9144000" cy="1423670"/>
          </a:xfrm>
        </p:spPr>
        <p:txBody>
          <a:bodyPr/>
          <a:lstStyle/>
          <a:p>
            <a:r>
              <a:rPr lang="zh-CN" altLang="en-US" dirty="0"/>
              <a:t>数学进阶专题（一）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175760" y="3494405"/>
            <a:ext cx="3840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数论从入门到进阶</a:t>
            </a:r>
            <a:endParaRPr lang="en-US" altLang="zh-CN" sz="3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dirty="0"/>
              <a:t>整除与同余的基本性质</a:t>
            </a:r>
            <a:endParaRPr lang="zh-CN" dirty="0"/>
          </a:p>
          <a:p>
            <a:r>
              <a:rPr lang="zh-CN" dirty="0"/>
              <a:t>数论中的几个基本定理</a:t>
            </a:r>
            <a:endParaRPr lang="zh-CN" dirty="0"/>
          </a:p>
          <a:p>
            <a:r>
              <a:rPr lang="zh-CN" dirty="0"/>
              <a:t>重要的数论定理</a:t>
            </a:r>
            <a:endParaRPr lang="zh-CN" dirty="0"/>
          </a:p>
          <a:p>
            <a:r>
              <a:rPr lang="zh-CN" dirty="0"/>
              <a:t>几个数论函数及其应用</a:t>
            </a:r>
            <a:endParaRPr lang="zh-CN" dirty="0"/>
          </a:p>
          <a:p>
            <a:endParaRPr 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整除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35635" y="1082675"/>
                <a:ext cx="11011535" cy="5655310"/>
              </a:xfrm>
            </p:spPr>
            <p:txBody>
              <a:bodyPr>
                <a:normAutofit lnSpcReduction="10000"/>
              </a:bodyPr>
              <a:lstStyle/>
              <a:p>
                <a:pPr fontAlgn="auto">
                  <a:lnSpc>
                    <a:spcPct val="100000"/>
                  </a:lnSpc>
                </a:pPr>
                <a:r>
                  <a:rPr lang="zh-CN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对于非零整数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𝑎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和整数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𝑏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，如果存在整数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𝑞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𝑏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=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𝑎𝑞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，那么就说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𝑏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可被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𝑎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整除，记作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𝑎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|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</a:rPr>
                      <m:t>𝑏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.</a:t>
                </a:r>
                <a:endParaRPr lang="zh-CN" altLang="en-US" dirty="0">
                  <a:solidFill>
                    <a:schemeClr val="tx1"/>
                  </a:solidFill>
                  <a:uFillTx/>
                  <a:latin typeface="+mn-ea"/>
                  <a:cs typeface="+mn-ea"/>
                </a:endParaRPr>
              </a:p>
              <a:p>
                <a:pPr fontAlgn="auto">
                  <a:lnSpc>
                    <a:spcPct val="10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整除的性质</a:t>
                </a:r>
                <a:endParaRPr lang="zh-CN" altLang="en-US" dirty="0">
                  <a:solidFill>
                    <a:schemeClr val="tx1"/>
                  </a:solidFill>
                  <a:uFillTx/>
                  <a:latin typeface="+mn-ea"/>
                  <a:cs typeface="+mn-ea"/>
                </a:endParaRPr>
              </a:p>
              <a:p>
                <a:pPr lvl="1" fontAlgn="auto">
                  <a:lnSpc>
                    <a:spcPct val="10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</a:rPr>
                  <a:t>传递性：如果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且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𝑐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，那么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𝑐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；</a:t>
                </a:r>
                <a:endParaRPr lang="zh-CN" altLang="en-US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  <a:p>
                <a:pPr lvl="1"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⇔</a:t>
                </a: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对于非零整数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𝑚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，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(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𝑚𝑎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)|(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𝑚𝑏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；</a:t>
                </a:r>
                <a:endParaRPr lang="zh-CN" altLang="en-US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  <a:p>
                <a:pPr lvl="1"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且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𝑐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⇔</a:t>
                </a: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对于任意整数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𝑥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，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𝑦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有，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|(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𝑏𝑥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+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𝑐𝑦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；</a:t>
                </a:r>
                <a:endParaRPr lang="zh-CN" altLang="en-US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  <a:p>
                <a:pPr lvl="1" fontAlgn="auto">
                  <a:lnSpc>
                    <a:spcPct val="10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若存在整数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𝑥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，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𝑦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𝑎𝑥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+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𝑏𝑦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=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𝑛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，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𝑛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(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𝑎𝑏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)|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𝑛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；</a:t>
                </a:r>
                <a:endParaRPr lang="zh-CN" altLang="en-US" sz="2800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  <a:p>
                <a:pPr lvl="1" algn="l" fontAlgn="auto">
                  <a:lnSpc>
                    <a:spcPct val="100000"/>
                  </a:lnSpc>
                  <a:buClrTx/>
                  <a:buSzTx/>
                </a:pPr>
                <a:r>
                  <a:rPr lang="zh-CN" altLang="en-US" sz="2600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若对于素数</a:t>
                </a:r>
                <a14:m>
                  <m:oMath xmlns:m="http://schemas.openxmlformats.org/officeDocument/2006/math">
                    <m:r>
                      <a:rPr lang="zh-CN" altLang="en-US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|(</m:t>
                    </m:r>
                    <m:r>
                      <a:rPr lang="en-US" altLang="zh-CN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𝑚𝑛</m:t>
                    </m:r>
                    <m:r>
                      <a:rPr lang="en-US" altLang="zh-CN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)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𝑚</m:t>
                    </m:r>
                    <m:r>
                      <a:rPr lang="zh-CN" altLang="en-US" sz="26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或</m:t>
                    </m:r>
                    <m:r>
                      <a:rPr lang="en-US" altLang="zh-CN" sz="26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sz="26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|</m:t>
                    </m:r>
                    <m:r>
                      <a:rPr lang="en-US" altLang="zh-CN" sz="26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𝑛</m:t>
                    </m:r>
                  </m:oMath>
                </a14:m>
                <a:r>
                  <a:rPr lang="en-US" altLang="zh-CN" sz="2600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.</a:t>
                </a:r>
                <a:endParaRPr lang="zh-CN" altLang="en-US" sz="2600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  <a:p>
                <a:pPr lvl="0" fontAlgn="auto">
                  <a:lnSpc>
                    <a:spcPct val="10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带余除法定理（整除理论的基础）</a:t>
                </a:r>
                <a:endParaRPr lang="zh-CN" altLang="en-US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  <a:p>
                <a:pPr lvl="1" fontAlgn="auto">
                  <a:lnSpc>
                    <a:spcPct val="10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对任意整数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,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&gt;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0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，存在唯一的数对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𝑞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,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𝑟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，使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𝑎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=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𝑏𝑞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+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𝑟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，其中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0</m:t>
                    </m:r>
                    <m:r>
                      <a:rPr lang="zh-CN" altLang="en-US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≤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𝑟</m:t>
                    </m:r>
                    <m:r>
                      <a:rPr lang="zh-CN" altLang="en-US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Times New Roman" panose="02020603050405020304" charset="0"/>
                        <a:sym typeface="+mn-ea"/>
                      </a:rPr>
                      <m:t>&lt;</m:t>
                    </m:r>
                    <m:r>
                      <a:rPr lang="en-US" altLang="zh-CN" sz="2800" i="1" dirty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+mn-ea"/>
                        <a:sym typeface="+mn-ea"/>
                      </a:rPr>
                      <m:t>𝑏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.</a:t>
                </a:r>
                <a:endParaRPr lang="en-US" altLang="zh-CN" sz="2800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  <a:p>
                <a:pPr lvl="1" fontAlgn="auto">
                  <a:lnSpc>
                    <a:spcPct val="10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rPr>
                  <a:t>这是辗转相除的理论基础之一</a:t>
                </a:r>
                <a:r>
                  <a:rPr lang="en-US" altLang="zh-CN" dirty="0">
                    <a:uFillTx/>
                    <a:latin typeface="+mn-ea"/>
                    <a:cs typeface="+mn-ea"/>
                    <a:sym typeface="+mn-ea"/>
                  </a:rPr>
                  <a:t>.</a:t>
                </a:r>
                <a:endParaRPr lang="zh-CN" altLang="en-US" dirty="0">
                  <a:solidFill>
                    <a:schemeClr val="tx1"/>
                  </a:solidFill>
                  <a:uFillTx/>
                  <a:latin typeface="+mn-ea"/>
                  <a:cs typeface="+mn-ea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635" y="1082675"/>
                <a:ext cx="11011535" cy="565531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同余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74675" y="1143000"/>
                <a:ext cx="10779760" cy="536130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对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取模得到的结果就是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除以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的余数，记作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C++</a:t>
                </a:r>
                <a:r>
                  <a:rPr lang="zh-CN" altLang="en-US" dirty="0"/>
                  <a:t>中将</a:t>
                </a:r>
                <a:r>
                  <a:rPr lang="en-US" altLang="zh-CN" dirty="0"/>
                  <a:t>mod</a:t>
                </a:r>
                <a:r>
                  <a:rPr lang="zh-CN" altLang="en-US" dirty="0"/>
                  <a:t>写为</a:t>
                </a:r>
                <a:r>
                  <a:rPr lang="en-US" altLang="zh-CN" dirty="0"/>
                  <a:t>%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(%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表示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对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取模的结果相等，又称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关于模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同余</a:t>
                </a:r>
                <a:endParaRPr lang="zh-CN" altLang="en-US" dirty="0"/>
              </a:p>
              <a:p>
                <a:r>
                  <a:rPr lang="zh-CN" altLang="en-US" dirty="0"/>
                  <a:t>同余的基本性质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(%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 ⇔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|(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%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 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𝑑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sym typeface="+mn-ea"/>
                          </a:rPr>
                          <m:t>%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sym typeface="+mn-ea"/>
                          </a:rPr>
                          <m:t>𝑚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，则</m:t>
                    </m:r>
                  </m:oMath>
                </a14:m>
                <a:br>
                  <a:rPr lang="en-US" altLang="zh-CN" i="1" dirty="0">
                    <a:latin typeface="Cambria Math" panose="02040503050406030204" pitchFamily="18" charset="0"/>
                    <a:sym typeface="+mn-ea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𝑎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𝑐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  ≡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𝑏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𝑑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(%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𝑚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)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sym typeface="+mn-ea"/>
                        </a:rPr>
                        <m:t>，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𝑎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𝑐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  ≡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𝑏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𝑑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(%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𝑚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+mn-ea"/>
                        </a:rPr>
                        <m:t>)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sym typeface="+mn-ea"/>
                        </a:rPr>
                        <m:t>，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sym typeface="+mn-ea"/>
                        </a:rPr>
                        <m:t>𝑎𝑐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sym typeface="+mn-ea"/>
                        </a:rPr>
                        <m:t>  ≡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sym typeface="+mn-ea"/>
                        </a:rPr>
                        <m:t>𝑏𝑑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sym typeface="+mn-ea"/>
                        </a:rPr>
                        <m:t>(%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sym typeface="+mn-ea"/>
                        </a:rPr>
                        <m:t>𝑚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sym typeface="+mn-ea"/>
                      </a:rPr>
                      <m:t>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(%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(%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，则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(% [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])</m:t>
                    </m:r>
                  </m:oMath>
                </a14:m>
                <a:endParaRPr lang="en-US" altLang="zh-CN" dirty="0">
                  <a:sym typeface="+mn-ea"/>
                </a:endParaRPr>
              </a:p>
              <a:p>
                <a:pPr lvl="1" algn="l">
                  <a:buClrTx/>
                  <a:buSzTx/>
                </a:pP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sym typeface="+mn-ea"/>
                      </a:rPr>
                      <m:t>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(%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，则对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的任意正因数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𝑛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，则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 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(%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endParaRPr lang="en-US" altLang="zh-CN" dirty="0">
                  <a:sym typeface="+mn-ea"/>
                </a:endParaRPr>
              </a:p>
              <a:p>
                <a:pPr lvl="1" algn="l">
                  <a:buClrTx/>
                  <a:buSzTx/>
                </a:pP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sym typeface="+mn-ea"/>
                      </a:rPr>
                      <m:t>若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sym typeface="+mn-ea"/>
                      </a:rPr>
                      <m:t>𝑎𝑐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 ≡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𝑏𝑐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(%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𝑚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，则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 ≡ 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(% 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𝑚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𝑚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𝑐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)</m:t>
                        </m:r>
                      </m:den>
                    </m:f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endParaRPr lang="zh-CN" altLang="en-US" dirty="0">
                  <a:sym typeface="+mn-ea"/>
                </a:endParaRPr>
              </a:p>
              <a:p>
                <a:pPr lvl="1"/>
                <a:endParaRPr lang="zh-CN" altLang="en-US" dirty="0">
                  <a:sym typeface="+mn-ea"/>
                </a:endParaRPr>
              </a:p>
              <a:p>
                <a:pPr lvl="1"/>
                <a:endParaRPr lang="zh-CN" altLang="en-US" dirty="0"/>
              </a:p>
              <a:p>
                <a:endParaRPr lang="zh-CN" altLang="en-US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675" y="1143000"/>
                <a:ext cx="10779760" cy="5361305"/>
              </a:xfrm>
              <a:blipFill rotWithShape="1">
                <a:blip r:embed="rId1"/>
                <a:stretch>
                  <a:fillRect b="-26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模运算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059186" cy="536149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由同余的基本性质，我们得到在信息学奥赛中常用的模运算的基本性质，若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(%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，则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(%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 ≡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  (%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 (%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)%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)%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)%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)%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)%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((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)%+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)%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)∗(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%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有了以上性质，我们就可以边计算边取模</a:t>
                </a:r>
                <a:endParaRPr lang="zh-CN" altLang="en-US" dirty="0"/>
              </a:p>
              <a:p>
                <a:endParaRPr lang="zh-CN" altLang="en-US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059186" cy="5361495"/>
              </a:xfrm>
              <a:blipFill rotWithShape="1">
                <a:blip r:embed="rId1"/>
                <a:stretch>
                  <a:fillRect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最大公约数（</a:t>
            </a:r>
            <a:r>
              <a:rPr lang="en-US" altLang="zh-CN" dirty="0" err="1"/>
              <a:t>gcd</a:t>
            </a:r>
            <a:r>
              <a:rPr lang="zh-CN" altLang="en-US" dirty="0"/>
              <a:t>）与最小公倍数（</a:t>
            </a:r>
            <a:r>
              <a:rPr lang="en-US" altLang="zh-CN" dirty="0"/>
              <a:t>lcm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</p:spPr>
            <p:txBody>
              <a:bodyPr/>
              <a:lstStyle/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==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，我们称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的约数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或因数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，也称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的倍数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的最大公约数，是指一个最大的整数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同时是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的约数，我们将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的最大公约数记作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求最大公约数的方法：欧几里得算法（辗转相除）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效率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zh-CN" altLang="en-US" dirty="0"/>
              </a:p>
              <a:p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  <a:blipFill rotWithShape="1">
                <a:blip r:embed="rId1"/>
                <a:stretch>
                  <a:fillRect b="-11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40" y="3110846"/>
            <a:ext cx="4292779" cy="89554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398" y="3108768"/>
            <a:ext cx="3461600" cy="26529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最大公约数（</a:t>
            </a:r>
            <a:r>
              <a:rPr lang="en-US" altLang="zh-CN" dirty="0" err="1"/>
              <a:t>gcd</a:t>
            </a:r>
            <a:r>
              <a:rPr lang="zh-CN" altLang="en-US" dirty="0"/>
              <a:t>）与最小公倍数（</a:t>
            </a:r>
            <a:r>
              <a:rPr lang="en-US" altLang="zh-CN" dirty="0"/>
              <a:t>lcm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</p:spPr>
            <p:txBody>
              <a:bodyPr/>
              <a:lstStyle/>
              <a:p>
                <a:r>
                  <a:rPr lang="zh-CN" altLang="en-US" dirty="0"/>
                  <a:t>为什么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?</a:t>
                </a:r>
                <a:endParaRPr lang="en-US" altLang="zh-CN" dirty="0"/>
              </a:p>
              <a:p>
                <a:r>
                  <a:rPr lang="zh-CN" altLang="en-US" dirty="0"/>
                  <a:t>为什么时间效率是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⁡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min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))</m:t>
                    </m:r>
                  </m:oMath>
                </a14:m>
                <a:r>
                  <a:rPr lang="en-US" altLang="zh-CN" dirty="0">
                    <a:sym typeface="+mn-ea"/>
                  </a:rPr>
                  <a:t>?</a:t>
                </a:r>
                <a:endParaRPr lang="en-US" altLang="zh-CN" dirty="0">
                  <a:sym typeface="+mn-ea"/>
                </a:endParaRPr>
              </a:p>
              <a:p>
                <a:pPr lvl="1"/>
                <a:r>
                  <a:rPr lang="zh-CN" altLang="en-US" sz="2600" dirty="0">
                    <a:sym typeface="+mn-ea"/>
                  </a:rPr>
                  <a:t>不想一个一个字母敲了，搬一个知乎上的优美而严格的证明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  <a:blipFill rotWithShape="1">
                <a:blip r:embed="rId1"/>
                <a:stretch>
                  <a:fillRect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7385" y="2599690"/>
            <a:ext cx="7640955" cy="39687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443855" y="3235325"/>
                <a:ext cx="6028690" cy="27991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>
                <a:sp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/>
                  <a:t>每进行一次辗转相除，被除数就减少，到最后一步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/>
                  <a:t>就是我们所求的最大公约数</a:t>
                </a:r>
                <a:r>
                  <a:rPr lang="en-US" altLang="zh-CN" sz="2400" dirty="0"/>
                  <a:t>.</a:t>
                </a:r>
                <a:endParaRPr lang="zh-CN" altLang="en-US" sz="2400" dirty="0"/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/>
                  <a:t>由上面的方程组可以得到一个严格递减的数列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 …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sym typeface="+mn-ea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.</a:t>
                </a:r>
                <a:endParaRPr lang="en-US" altLang="zh-CN" sz="2400" dirty="0"/>
              </a:p>
              <a:p>
                <a:pPr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400" dirty="0"/>
                  <a:t>所有的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且有最后一项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i="1" baseline="-25000" dirty="0">
                    <a:sym typeface="+mn-ea"/>
                  </a:rPr>
                  <a:t> </a:t>
                </a:r>
                <a:r>
                  <a:rPr lang="en-US" altLang="zh-CN" sz="2400" dirty="0">
                    <a:sym typeface="+mn-ea"/>
                  </a:rPr>
                  <a:t>.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855" y="3235325"/>
                <a:ext cx="6028690" cy="2799100"/>
              </a:xfrm>
              <a:prstGeom prst="rect">
                <a:avLst/>
              </a:prstGeom>
              <a:blipFill rotWithShape="1">
                <a:blip r:embed="rId4"/>
                <a:stretch>
                  <a:fillRect l="-105" t="-227" r="-105" b="-2177"/>
                </a:stretch>
              </a:blip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7703"/>
          <a:stretch>
            <a:fillRect/>
          </a:stretch>
        </p:blipFill>
        <p:spPr>
          <a:xfrm>
            <a:off x="688340" y="259080"/>
            <a:ext cx="6454140" cy="63398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402195" y="1059815"/>
                <a:ext cx="4202430" cy="41549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>
                <a:spAutoFit/>
              </a:bodyPr>
              <a:lstStyle/>
              <a:p>
                <a:r>
                  <a:rPr lang="zh-CN" altLang="en-US" sz="2400" dirty="0"/>
                  <a:t>关于复杂度的另一个很美妙而简洁的证明。</a:t>
                </a:r>
                <a:endParaRPr lang="zh-CN" altLang="en-US" sz="2400" dirty="0"/>
              </a:p>
              <a:p>
                <a:r>
                  <a:rPr lang="en-US" altLang="zh-CN" sz="2400" dirty="0"/>
                  <a:t>    </a:t>
                </a:r>
                <a:r>
                  <a:rPr lang="zh-CN" altLang="en-US" sz="2400" dirty="0"/>
                  <a:t>情况一：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.此时完成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的交换，转为情况二。</a:t>
                </a:r>
                <a:endParaRPr lang="zh-CN" altLang="en-US" sz="2400" dirty="0"/>
              </a:p>
              <a:p>
                <a:r>
                  <a:rPr lang="en-US" altLang="zh-CN" sz="2400" dirty="0"/>
                  <a:t>    </a:t>
                </a:r>
                <a:r>
                  <a:rPr lang="zh-CN" altLang="en-US" sz="2400" dirty="0"/>
                  <a:t>情况二：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⩾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.我们注意到：一个数模比自己小的数，至少减少一半。故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至少减少一半。</a:t>
                </a:r>
                <a:endParaRPr lang="zh-CN" altLang="en-US" sz="2400" dirty="0"/>
              </a:p>
              <a:p>
                <a:r>
                  <a:rPr lang="en-US" altLang="zh-CN" sz="2400" dirty="0"/>
                  <a:t>    </a:t>
                </a:r>
                <a:r>
                  <a:rPr lang="zh-CN" altLang="en-US" sz="2400" dirty="0"/>
                  <a:t>情况一的出现次数不会高于情况二的出现次数；而情况二的出现次数至多为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sz="2400" i="0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zh-CN" altLang="en-US" sz="2400" dirty="0"/>
                  <a:t>自此完成复杂度证明。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195" y="1059815"/>
                <a:ext cx="4202430" cy="4154984"/>
              </a:xfrm>
              <a:prstGeom prst="rect">
                <a:avLst/>
              </a:prstGeom>
              <a:blipFill rotWithShape="1">
                <a:blip r:embed="rId2"/>
                <a:stretch>
                  <a:fillRect l="-151" t="-153" r="-499" b="-149"/>
                </a:stretch>
              </a:blip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最大公约数（</a:t>
            </a:r>
            <a:r>
              <a:rPr lang="en-US" altLang="zh-CN" dirty="0" err="1"/>
              <a:t>gcd</a:t>
            </a:r>
            <a:r>
              <a:rPr lang="zh-CN" altLang="en-US" dirty="0"/>
              <a:t>）与最小公倍数（</a:t>
            </a:r>
            <a:r>
              <a:rPr lang="en-US" altLang="zh-CN" dirty="0"/>
              <a:t>lcm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</p:spPr>
            <p:txBody>
              <a:bodyPr/>
              <a:lstStyle/>
              <a:p>
                <a:r>
                  <a:rPr lang="zh-CN" altLang="en-US" dirty="0"/>
                  <a:t>关于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zh-CN" altLang="en-US" i="1" dirty="0" err="1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zh-CN" altLang="en-US" dirty="0"/>
                  <a:t>还有以下扩展：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的最小公倍数记作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lcm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则</a:t>
                </a:r>
                <a:r>
                  <a:rPr lang="en-US" altLang="zh-CN" dirty="0"/>
                  <a:t>lcm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zh-CN" altLang="en-US" i="1" dirty="0" err="1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zh-CN" altLang="en-US" dirty="0"/>
                  <a:t>同理，</a:t>
                </a:r>
                <a:r>
                  <a:rPr lang="en-US" altLang="zh-CN" dirty="0"/>
                  <a:t>lcm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=lcm(lcm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dirty="0"/>
                  <a:t>)</a:t>
                </a:r>
                <a:endParaRPr lang="en-US" altLang="zh-CN" dirty="0"/>
              </a:p>
              <a:p>
                <a:r>
                  <a:rPr lang="zh-CN" altLang="en-US" dirty="0"/>
                  <a:t>但是</a:t>
                </a:r>
                <a:r>
                  <a:rPr lang="en-US" altLang="zh-CN" dirty="0"/>
                  <a:t>lcm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不成立！！！</a:t>
                </a: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  <a:blipFill rotWithShape="1">
                <a:blip r:embed="rId1"/>
                <a:stretch>
                  <a:fillRect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1.</a:t>
            </a:r>
            <a:r>
              <a:rPr lang="zh-CN" altLang="en-US" dirty="0"/>
              <a:t>欧几里得的游戏（洛谷</a:t>
            </a:r>
            <a:r>
              <a:rPr lang="en-US" altLang="zh-CN" dirty="0"/>
              <a:t>1290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169" y="1143000"/>
            <a:ext cx="10935093" cy="530493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欧几里得的两个后代</a:t>
            </a:r>
            <a:r>
              <a:rPr lang="en-US" altLang="zh-CN" dirty="0"/>
              <a:t>Stan</a:t>
            </a:r>
            <a:r>
              <a:rPr lang="zh-CN" altLang="en-US" dirty="0"/>
              <a:t>和</a:t>
            </a:r>
            <a:r>
              <a:rPr lang="en-US" altLang="zh-CN" dirty="0"/>
              <a:t>Ollie</a:t>
            </a:r>
            <a:r>
              <a:rPr lang="zh-CN" altLang="en-US" dirty="0"/>
              <a:t>正在玩一种数字游戏，这个游戏是他们的祖先欧几里得发明的。给定两个正整数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，从</a:t>
            </a:r>
            <a:r>
              <a:rPr lang="en-US" altLang="zh-CN" dirty="0"/>
              <a:t>Stan</a:t>
            </a:r>
            <a:r>
              <a:rPr lang="zh-CN" altLang="en-US" dirty="0"/>
              <a:t>开始，从其中较大的一个数，减去较小的数的正整数倍，当然，得到的数不能小于</a:t>
            </a:r>
            <a:r>
              <a:rPr lang="en-US" altLang="zh-CN" dirty="0"/>
              <a:t>0</a:t>
            </a:r>
            <a:r>
              <a:rPr lang="zh-CN" altLang="en-US" dirty="0"/>
              <a:t>。然后是</a:t>
            </a:r>
            <a:r>
              <a:rPr lang="en-US" altLang="zh-CN" dirty="0"/>
              <a:t>Ollie</a:t>
            </a:r>
            <a:r>
              <a:rPr lang="zh-CN" altLang="en-US" dirty="0"/>
              <a:t>，对刚才得到的数，和</a:t>
            </a:r>
            <a:r>
              <a:rPr lang="en-US" altLang="zh-CN" dirty="0"/>
              <a:t>M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中较小的那个数，再进行同样的操作</a:t>
            </a:r>
            <a:r>
              <a:rPr lang="en-US" altLang="zh-CN" dirty="0"/>
              <a:t>……</a:t>
            </a:r>
            <a:r>
              <a:rPr lang="zh-CN" altLang="en-US" dirty="0"/>
              <a:t>直到一个人得到了</a:t>
            </a:r>
            <a:r>
              <a:rPr lang="en-US" altLang="zh-CN" dirty="0"/>
              <a:t>0</a:t>
            </a:r>
            <a:r>
              <a:rPr lang="zh-CN" altLang="en-US" dirty="0"/>
              <a:t>，他就取得了胜利。下面是他们用</a:t>
            </a:r>
            <a:r>
              <a:rPr lang="en-US" altLang="zh-CN" dirty="0"/>
              <a:t>(25</a:t>
            </a:r>
            <a:r>
              <a:rPr lang="zh-CN" altLang="en-US" dirty="0"/>
              <a:t>，</a:t>
            </a:r>
            <a:r>
              <a:rPr lang="en-US" altLang="zh-CN" dirty="0"/>
              <a:t>7)</a:t>
            </a:r>
            <a:r>
              <a:rPr lang="zh-CN" altLang="en-US" dirty="0"/>
              <a:t>两个数游戏的过程：</a:t>
            </a:r>
            <a:endParaRPr lang="zh-CN" alt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Start</a:t>
            </a:r>
            <a:r>
              <a:rPr lang="zh-CN" altLang="en-US" dirty="0"/>
              <a:t>：</a:t>
            </a:r>
            <a:r>
              <a:rPr lang="en-US" altLang="zh-CN" dirty="0"/>
              <a:t>25 7		Stan</a:t>
            </a:r>
            <a:r>
              <a:rPr lang="zh-CN" altLang="en-US" dirty="0"/>
              <a:t>：</a:t>
            </a:r>
            <a:r>
              <a:rPr lang="en-US" altLang="zh-CN" dirty="0"/>
              <a:t>11 7		Ollie</a:t>
            </a:r>
            <a:r>
              <a:rPr lang="zh-CN" altLang="en-US" dirty="0"/>
              <a:t>：</a:t>
            </a:r>
            <a:r>
              <a:rPr lang="en-US" altLang="zh-CN" dirty="0"/>
              <a:t>4 7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Stan</a:t>
            </a:r>
            <a:r>
              <a:rPr lang="zh-CN" altLang="en-US" dirty="0"/>
              <a:t>：</a:t>
            </a:r>
            <a:r>
              <a:rPr lang="en-US" altLang="zh-CN" dirty="0"/>
              <a:t>4 3		Ollie</a:t>
            </a:r>
            <a:r>
              <a:rPr lang="zh-CN" altLang="en-US" dirty="0"/>
              <a:t>：</a:t>
            </a:r>
            <a:r>
              <a:rPr lang="en-US" altLang="zh-CN" dirty="0"/>
              <a:t>1 3		Stan</a:t>
            </a:r>
            <a:r>
              <a:rPr lang="zh-CN" altLang="en-US" dirty="0"/>
              <a:t>：</a:t>
            </a:r>
            <a:r>
              <a:rPr lang="en-US" altLang="zh-CN" dirty="0"/>
              <a:t>1 0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Stan</a:t>
            </a:r>
            <a:r>
              <a:rPr lang="zh-CN" altLang="en-US" dirty="0"/>
              <a:t>赢得了游戏的胜利。</a:t>
            </a:r>
            <a:endParaRPr lang="zh-CN" alt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现在，假设他们完美地操作，谁会取得胜利呢？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3545" y="459511"/>
            <a:ext cx="10515600" cy="2648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输入</a:t>
            </a:r>
            <a:r>
              <a:rPr lang="en-US" altLang="zh-CN" sz="2400" dirty="0"/>
              <a:t>】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第一行为测试数据的组数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下面有</a:t>
            </a:r>
            <a:r>
              <a:rPr lang="en-US" altLang="zh-CN" sz="2400" dirty="0"/>
              <a:t>C</a:t>
            </a:r>
            <a:r>
              <a:rPr lang="zh-CN" altLang="en-US" sz="2400" dirty="0"/>
              <a:t>行，每行为一组数据，包含两个正整数</a:t>
            </a:r>
            <a:r>
              <a:rPr lang="en-US" altLang="zh-CN" sz="2400" dirty="0"/>
              <a:t>M, N</a:t>
            </a:r>
            <a:r>
              <a:rPr lang="zh-CN" altLang="en-US" sz="2400" dirty="0"/>
              <a:t>。（</a:t>
            </a:r>
            <a:r>
              <a:rPr lang="en-US" altLang="zh-CN" sz="2400" dirty="0"/>
              <a:t>M, N</a:t>
            </a:r>
            <a:r>
              <a:rPr lang="zh-CN" altLang="en-US" sz="2400" dirty="0"/>
              <a:t>不超过长整型。）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输出</a:t>
            </a:r>
            <a:r>
              <a:rPr lang="en-US" altLang="zh-CN" sz="2400" dirty="0"/>
              <a:t>】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对每组输入数据输出一行，如果</a:t>
            </a:r>
            <a:r>
              <a:rPr lang="en-US" altLang="zh-CN" sz="2400" dirty="0"/>
              <a:t>Stan</a:t>
            </a:r>
            <a:r>
              <a:rPr lang="zh-CN" altLang="en-US" sz="2400" dirty="0"/>
              <a:t>胜利，则输出“</a:t>
            </a:r>
            <a:r>
              <a:rPr lang="en-US" altLang="zh-CN" sz="2400" dirty="0"/>
              <a:t>Stan wins”</a:t>
            </a:r>
            <a:r>
              <a:rPr lang="zh-CN" altLang="en-US" sz="2400" dirty="0"/>
              <a:t>；否则输出“</a:t>
            </a:r>
            <a:r>
              <a:rPr lang="en-US" altLang="zh-CN" sz="2400" dirty="0"/>
              <a:t>Ollie wins”</a:t>
            </a:r>
            <a:endParaRPr lang="zh-CN" altLang="en-US" sz="2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311236" y="3277271"/>
          <a:ext cx="5569528" cy="20975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4764"/>
                <a:gridCol w="2784764"/>
              </a:tblGrid>
              <a:tr h="208043">
                <a:tc>
                  <a:txBody>
                    <a:bodyPr/>
                    <a:lstStyle/>
                    <a:p>
                      <a:r>
                        <a:rPr lang="zh-CN" altLang="en-US" dirty="0"/>
                        <a:t>样例输入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样例输出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1793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en-US" altLang="zh-CN" sz="2400" dirty="0"/>
                    </a:p>
                    <a:p>
                      <a:r>
                        <a:rPr lang="en-US" altLang="zh-CN" sz="2400" dirty="0"/>
                        <a:t>25 7</a:t>
                      </a:r>
                      <a:endParaRPr lang="en-US" altLang="zh-CN" sz="2400" dirty="0"/>
                    </a:p>
                    <a:p>
                      <a:r>
                        <a:rPr lang="en-US" altLang="zh-CN" sz="2400" dirty="0"/>
                        <a:t>24 15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 wins</a:t>
                      </a:r>
                      <a:endParaRPr lang="en-US" altLang="zh-C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Ollie wins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很像欧几里得算法吧？</a:t>
            </a:r>
            <a:endParaRPr lang="en-US" altLang="zh-CN" dirty="0"/>
          </a:p>
          <a:p>
            <a:r>
              <a:rPr lang="zh-CN" altLang="en-US" dirty="0"/>
              <a:t>这是必胜策略问题</a:t>
            </a:r>
            <a:endParaRPr lang="en-US" altLang="zh-CN" dirty="0"/>
          </a:p>
          <a:p>
            <a:pPr lvl="1"/>
            <a:r>
              <a:rPr lang="zh-CN" altLang="en-US" dirty="0"/>
              <a:t>必胜策略问题的核心是，一方保证另一方始终无法改变自己所处的状态</a:t>
            </a:r>
            <a:endParaRPr lang="en-US" altLang="zh-CN" dirty="0"/>
          </a:p>
          <a:p>
            <a:pPr lvl="1"/>
            <a:r>
              <a:rPr lang="zh-CN" altLang="en-US" dirty="0"/>
              <a:t>每一步的状态，被除数是</a:t>
            </a:r>
            <a:r>
              <a:rPr lang="en-US" altLang="zh-CN" dirty="0"/>
              <a:t>x</a:t>
            </a:r>
            <a:r>
              <a:rPr lang="zh-CN" altLang="en-US" dirty="0"/>
              <a:t>，除数是</a:t>
            </a:r>
            <a:r>
              <a:rPr lang="en-US" altLang="zh-CN" dirty="0"/>
              <a:t>y</a:t>
            </a:r>
            <a:r>
              <a:rPr lang="zh-CN" altLang="en-US" dirty="0"/>
              <a:t>，必胜态出现</a:t>
            </a:r>
            <a:r>
              <a:rPr lang="en-US" altLang="zh-CN" dirty="0" err="1"/>
              <a:t>x%y</a:t>
            </a:r>
            <a:r>
              <a:rPr lang="en-US" altLang="zh-CN" dirty="0"/>
              <a:t>==0</a:t>
            </a:r>
            <a:endParaRPr lang="en-US" altLang="zh-CN" dirty="0"/>
          </a:p>
          <a:p>
            <a:pPr lvl="1"/>
            <a:r>
              <a:rPr lang="zh-CN" altLang="en-US" dirty="0"/>
              <a:t>分情况讨论</a:t>
            </a:r>
            <a:endParaRPr lang="en-US" altLang="zh-CN" dirty="0"/>
          </a:p>
          <a:p>
            <a:pPr lvl="2"/>
            <a:r>
              <a:rPr lang="zh-CN" altLang="en-US" dirty="0"/>
              <a:t>如果大家都没有选择余地，也就是说每一步</a:t>
            </a:r>
            <a:r>
              <a:rPr lang="en-US" altLang="zh-CN" dirty="0"/>
              <a:t>[x/y]=1</a:t>
            </a:r>
            <a:r>
              <a:rPr lang="zh-CN" altLang="en-US" dirty="0"/>
              <a:t>，每次的操作是唯一的，则模拟操作即可</a:t>
            </a:r>
            <a:endParaRPr lang="en-US" altLang="zh-CN" dirty="0"/>
          </a:p>
          <a:p>
            <a:pPr lvl="2"/>
            <a:r>
              <a:rPr lang="zh-CN" altLang="en-US" dirty="0"/>
              <a:t>如果有选择余地，则可以控制对方的状态，主动权把握在自己手中</a:t>
            </a:r>
            <a:endParaRPr lang="en-US" altLang="zh-CN" dirty="0"/>
          </a:p>
          <a:p>
            <a:pPr lvl="3"/>
            <a:r>
              <a:rPr lang="zh-CN" altLang="en-US" dirty="0"/>
              <a:t>不让对方改变除数，那么拿掉</a:t>
            </a:r>
            <a:r>
              <a:rPr lang="en-US" altLang="zh-CN" dirty="0"/>
              <a:t>y*(x/y-1)</a:t>
            </a:r>
            <a:endParaRPr lang="en-US" altLang="zh-CN" dirty="0"/>
          </a:p>
          <a:p>
            <a:pPr lvl="3"/>
            <a:r>
              <a:rPr lang="zh-CN" altLang="en-US" dirty="0"/>
              <a:t>想让对方改变除数，那么拿掉</a:t>
            </a:r>
            <a:r>
              <a:rPr lang="en-US" altLang="zh-CN" dirty="0"/>
              <a:t>y</a:t>
            </a:r>
            <a:r>
              <a:rPr lang="zh-CN" altLang="en-US" dirty="0"/>
              <a:t>*</a:t>
            </a:r>
            <a:r>
              <a:rPr lang="en-US" altLang="zh-CN" dirty="0"/>
              <a:t>(x/y)</a:t>
            </a:r>
            <a:endParaRPr lang="en-US" altLang="zh-CN" dirty="0"/>
          </a:p>
          <a:p>
            <a:pPr lvl="3"/>
            <a:r>
              <a:rPr lang="zh-CN" altLang="en-US" dirty="0"/>
              <a:t>即谁先拿到</a:t>
            </a:r>
            <a:r>
              <a:rPr lang="en-US" altLang="zh-CN" dirty="0"/>
              <a:t>x&gt;2y</a:t>
            </a:r>
            <a:r>
              <a:rPr lang="zh-CN" altLang="en-US" dirty="0"/>
              <a:t>的状态，谁胜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2.SuperGCD(</a:t>
            </a:r>
            <a:r>
              <a:rPr lang="zh-CN" altLang="en-US" dirty="0"/>
              <a:t>洛谷</a:t>
            </a:r>
            <a:r>
              <a:rPr lang="en-US" altLang="zh-CN" dirty="0"/>
              <a:t>2152</a:t>
            </a:r>
            <a:r>
              <a:rPr lang="zh-CN" altLang="en-US" dirty="0"/>
              <a:t>，</a:t>
            </a:r>
            <a:r>
              <a:rPr lang="en-US" altLang="zh-CN" dirty="0"/>
              <a:t>SDOI2009)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高精</a:t>
            </a:r>
            <a:r>
              <a:rPr lang="en-US" altLang="zh-CN" dirty="0"/>
              <a:t>GCD</a:t>
            </a:r>
            <a:r>
              <a:rPr lang="zh-CN" altLang="en-US" dirty="0"/>
              <a:t>，两个数大小</a:t>
            </a:r>
            <a:r>
              <a:rPr lang="en-US" altLang="zh-CN" dirty="0"/>
              <a:t>(1≤a,b≤10</a:t>
            </a:r>
            <a:r>
              <a:rPr lang="en-US" altLang="zh-CN" baseline="30000" dirty="0"/>
              <a:t>10000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辗转相除？</a:t>
                </a:r>
                <a:endParaRPr lang="zh-CN" altLang="en-US" dirty="0"/>
              </a:p>
              <a:p>
                <a:r>
                  <a:rPr lang="zh-CN" altLang="en-US" dirty="0"/>
                  <a:t>可能进行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次除法运算，高精度除法太慢</a:t>
                </a:r>
                <a:endParaRPr lang="zh-CN" alt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的位数</a:t>
                </a:r>
                <a:endParaRPr lang="zh-CN" altLang="en-US" dirty="0"/>
              </a:p>
              <a:p>
                <a:r>
                  <a:rPr lang="zh-CN" altLang="en-US" dirty="0"/>
                  <a:t>二进制算法（更相减损术）：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、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</m:oMath>
                </a14:m>
                <a:r>
                  <a:rPr lang="zh-CN" altLang="en-US" dirty="0"/>
                  <a:t>都是偶数，直接令两数除以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，并令</a:t>
                </a:r>
                <a:r>
                  <a:rPr lang="en-US" altLang="zh-CN" dirty="0"/>
                  <a:t>GCD</a:t>
                </a:r>
                <a:r>
                  <a:rPr lang="zh-CN" altLang="en-US" dirty="0"/>
                  <a:t>乘以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；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、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</m:oMath>
                </a14:m>
                <a:r>
                  <a:rPr lang="zh-CN" altLang="en-US" dirty="0"/>
                  <a:t>一奇一偶，则除去偶数的所有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的因子；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、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</m:oMath>
                </a14:m>
                <a:r>
                  <a:rPr lang="zh-CN" altLang="en-US" dirty="0"/>
                  <a:t>都是奇数，则令大数减小数，此时必然得到一个偶数。</a:t>
                </a:r>
                <a:endParaRPr lang="zh-CN" altLang="en-US" dirty="0"/>
              </a:p>
              <a:p>
                <a:r>
                  <a:rPr lang="zh-CN" altLang="en-US" dirty="0"/>
                  <a:t>复杂度如何？</a:t>
                </a:r>
                <a:endParaRPr lang="zh-CN" altLang="en-US" dirty="0"/>
              </a:p>
              <a:p>
                <a:r>
                  <a:rPr lang="zh-CN" altLang="en-US" dirty="0"/>
                  <a:t>每两步就能令一个数除以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，故减法次数为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zh-CN" altLang="en-US" dirty="0"/>
              </a:p>
              <a:p>
                <a:r>
                  <a:rPr lang="zh-CN" altLang="en-US" dirty="0"/>
                  <a:t>总复杂度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altLang="zh-CN" i="0" dirty="0">
                    <a:latin typeface="+mj-lt"/>
                  </a:rPr>
                  <a:t>log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扩展欧几里得算法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495290" cy="4331984"/>
              </a:xfrm>
            </p:spPr>
            <p:txBody>
              <a:bodyPr numCol="1">
                <a:normAutofit lnSpcReduction="10000"/>
              </a:bodyPr>
              <a:lstStyle/>
              <a:p>
                <a:r>
                  <a:rPr lang="zh-CN" altLang="en-US" dirty="0"/>
                  <a:t>扩展欧几里得算法用于解决这样一个问题：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给定正整数</a:t>
                </a:r>
                <a:r>
                  <a:rPr lang="en-US" altLang="zh-CN" dirty="0" err="1"/>
                  <a:t>a,b</a:t>
                </a:r>
                <a:r>
                  <a:rPr lang="zh-CN" altLang="en-US" dirty="0"/>
                  <a:t>，求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的一组整数解</a:t>
                </a:r>
                <a:endParaRPr lang="en-US" altLang="zh-CN" dirty="0"/>
              </a:p>
              <a:p>
                <a:r>
                  <a:rPr lang="zh-CN" altLang="en-US" dirty="0"/>
                  <a:t>举例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考虑𝑎</a:t>
                </a:r>
                <a:r>
                  <a:rPr lang="en-US" altLang="zh-CN" dirty="0"/>
                  <a:t>=47,</a:t>
                </a:r>
                <a:r>
                  <a:rPr lang="zh-CN" altLang="en-US" dirty="0"/>
                  <a:t>𝑏</a:t>
                </a:r>
                <a:r>
                  <a:rPr lang="en-US" altLang="zh-CN" dirty="0"/>
                  <a:t>=30</a:t>
                </a:r>
                <a:r>
                  <a:rPr lang="zh-CN" altLang="en-US" dirty="0"/>
                  <a:t>的辗转相除过程：</a:t>
                </a:r>
                <a:endParaRPr lang="zh-CN" altLang="en-US" dirty="0"/>
              </a:p>
              <a:p>
                <a:pPr lvl="2"/>
                <a:r>
                  <a:rPr lang="en-US" altLang="zh-CN" dirty="0"/>
                  <a:t>47=30×1+17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30=17×1+13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17=13×1+4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13=4×3+1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得到</a:t>
                </a:r>
                <a:r>
                  <a:rPr lang="en-US" altLang="zh-CN" dirty="0" err="1"/>
                  <a:t>gcd(</a:t>
                </a:r>
                <a:r>
                  <a:rPr lang="en-US" altLang="zh-CN" dirty="0"/>
                  <a:t>47,30)=1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495290" cy="4331984"/>
              </a:xfrm>
              <a:blipFill rotWithShape="1">
                <a:blip r:embed="rId1"/>
                <a:stretch>
                  <a:fillRect t="-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767580"/>
          </a:xfrm>
        </p:spPr>
        <p:txBody>
          <a:bodyPr>
            <a:normAutofit lnSpcReduction="10000"/>
          </a:bodyPr>
          <a:lstStyle/>
          <a:p>
            <a:pPr lvl="1"/>
            <a:r>
              <a:rPr lang="zh-CN" altLang="en-US" sz="2400" dirty="0">
                <a:sym typeface="+mn-ea"/>
              </a:rPr>
              <a:t>求出</a:t>
            </a:r>
            <a:r>
              <a:rPr lang="en-US" altLang="zh-CN" sz="2400" dirty="0">
                <a:sym typeface="+mn-ea"/>
              </a:rPr>
              <a:t>GCD</a:t>
            </a:r>
            <a:r>
              <a:rPr lang="zh-CN" altLang="en-US" sz="2400" dirty="0">
                <a:sym typeface="+mn-ea"/>
              </a:rPr>
              <a:t>之后，将整个过程倒过来：</a:t>
            </a:r>
            <a:endParaRPr lang="zh-CN" altLang="en-US" sz="2400" dirty="0"/>
          </a:p>
          <a:p>
            <a:pPr lvl="2"/>
            <a:r>
              <a:rPr lang="en-US" altLang="zh-CN" sz="2400" dirty="0">
                <a:sym typeface="+mn-ea"/>
              </a:rPr>
              <a:t>1=13×1+4×(−3)</a:t>
            </a:r>
            <a:endParaRPr lang="en-US" altLang="zh-CN" sz="2400" dirty="0"/>
          </a:p>
          <a:p>
            <a:pPr lvl="2"/>
            <a:r>
              <a:rPr lang="en-US" altLang="zh-CN" sz="2400" dirty="0">
                <a:sym typeface="+mn-ea"/>
              </a:rPr>
              <a:t>4=17×1+13×(−1)</a:t>
            </a:r>
            <a:endParaRPr lang="en-US" altLang="zh-CN" sz="2400" dirty="0"/>
          </a:p>
          <a:p>
            <a:pPr lvl="2"/>
            <a:r>
              <a:rPr lang="en-US" altLang="zh-CN" sz="2400" dirty="0">
                <a:sym typeface="+mn-ea"/>
              </a:rPr>
              <a:t>13=30×1+17×(−1)</a:t>
            </a:r>
            <a:endParaRPr lang="en-US" altLang="zh-CN" sz="2400" dirty="0"/>
          </a:p>
          <a:p>
            <a:pPr lvl="2"/>
            <a:r>
              <a:rPr lang="en-US" altLang="zh-CN" sz="2400" dirty="0">
                <a:sym typeface="+mn-ea"/>
              </a:rPr>
              <a:t>17=47×1+30×(−1)</a:t>
            </a:r>
            <a:endParaRPr lang="zh-CN" altLang="en-US" sz="2400" dirty="0">
              <a:sym typeface="+mn-ea"/>
            </a:endParaRPr>
          </a:p>
          <a:p>
            <a:pPr lvl="1" algn="l"/>
            <a:r>
              <a:rPr lang="zh-CN" altLang="en-US" sz="2400" dirty="0">
                <a:sym typeface="+mn-ea"/>
              </a:rPr>
              <a:t>依次带入得：</a:t>
            </a:r>
            <a:endParaRPr lang="zh-CN" altLang="en-US" dirty="0"/>
          </a:p>
          <a:p>
            <a:pPr lvl="2" algn="l"/>
            <a:r>
              <a:rPr lang="en-US" altLang="zh-CN" sz="2000" dirty="0">
                <a:sym typeface="+mn-ea"/>
              </a:rPr>
              <a:t>1=13×1+(17×1+13×(−1))×(−3)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=13×4+17×(−3)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=(30×1+17×(−1))×4+17×(−3)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=30×4+17×(−7)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=30×4+(47×1+30×(−1))×(−7)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=30×11+47×(−7)</a:t>
            </a:r>
            <a:endParaRPr lang="en-US" altLang="zh-CN" dirty="0"/>
          </a:p>
          <a:p>
            <a:pPr lvl="1" algn="l"/>
            <a:r>
              <a:rPr lang="zh-CN" altLang="en-US" sz="2400" dirty="0">
                <a:sym typeface="+mn-ea"/>
              </a:rPr>
              <a:t>解得𝑥</a:t>
            </a:r>
            <a:r>
              <a:rPr lang="en-US" altLang="zh-CN" sz="2400" dirty="0">
                <a:sym typeface="+mn-ea"/>
              </a:rPr>
              <a:t>=−7,</a:t>
            </a:r>
            <a:r>
              <a:rPr lang="zh-CN" altLang="en-US" sz="2400" dirty="0">
                <a:sym typeface="+mn-ea"/>
              </a:rPr>
              <a:t>𝑦</a:t>
            </a:r>
            <a:r>
              <a:rPr lang="en-US" altLang="zh-CN" sz="2400" dirty="0">
                <a:sym typeface="+mn-ea"/>
              </a:rPr>
              <a:t>=11</a:t>
            </a:r>
            <a:r>
              <a:rPr lang="zh-CN" altLang="en-US" sz="2400" dirty="0">
                <a:sym typeface="+mn-ea"/>
              </a:rPr>
              <a:t>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扩展欧几里得算法的原理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</p:spPr>
            <p:txBody>
              <a:bodyPr/>
              <a:lstStyle/>
              <a:p>
                <a:r>
                  <a:rPr lang="zh-CN" altLang="en-US" dirty="0"/>
                  <a:t>考虑像欧几里得算法一样递归</a:t>
                </a:r>
                <a:endParaRPr lang="zh-CN" alt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假设已知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’+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的一组解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’,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err="1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’+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于是得到：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时，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323788"/>
              </a:xfrm>
              <a:blipFill rotWithShape="1">
                <a:blip r:embed="rId1"/>
                <a:stretch>
                  <a:fillRect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扩展欧几里得算法的实现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981827" y="3505200"/>
            <a:ext cx="4181474" cy="830997"/>
          </a:xfrm>
          <a:prstGeom prst="rect">
            <a:avLst/>
          </a:prstGeom>
          <a:solidFill>
            <a:srgbClr val="FFFF00">
              <a:alpha val="20000"/>
            </a:srgbClr>
          </a:solidFill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indent="0" algn="l">
              <a:spcBef>
                <a:spcPts val="720"/>
              </a:spcBef>
              <a:spcAft>
                <a:spcPts val="0"/>
              </a:spcAft>
            </a:pPr>
            <a:r>
              <a:rPr lang="en-US" altLang="zh-CN" sz="2400" b="1" kern="0" dirty="0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g=</a:t>
            </a:r>
            <a:r>
              <a:rPr lang="en-US" altLang="zh-CN" sz="2400" kern="0" dirty="0" err="1">
                <a:solidFill>
                  <a:srgbClr val="A8227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exgcd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b,a%b,y,x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y-=a/b*x;</a:t>
            </a:r>
            <a:endParaRPr lang="en-US" altLang="zh-CN" sz="24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1024" y="1351508"/>
            <a:ext cx="691515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20"/>
              </a:spcBef>
              <a:spcAft>
                <a:spcPts val="0"/>
              </a:spcAft>
            </a:pPr>
            <a:r>
              <a:rPr lang="en-US" altLang="zh-CN" sz="2400" b="1" kern="0" dirty="0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400" kern="0" dirty="0" err="1">
                <a:solidFill>
                  <a:srgbClr val="A8227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exgcd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2400" b="1" kern="0" dirty="0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a,</a:t>
            </a:r>
            <a:r>
              <a:rPr lang="en-US" altLang="zh-CN" sz="2400" b="1" kern="0" dirty="0" err="1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b,</a:t>
            </a:r>
            <a:r>
              <a:rPr lang="en-US" altLang="zh-CN" sz="2400" b="1" kern="0" dirty="0" err="1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&amp;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x,</a:t>
            </a:r>
            <a:r>
              <a:rPr lang="en-US" altLang="zh-CN" sz="2400" b="1" kern="0" dirty="0" err="1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&amp;y){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2400" b="1" kern="0" dirty="0">
                <a:solidFill>
                  <a:srgbClr val="2239A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if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(b==</a:t>
            </a:r>
            <a:r>
              <a:rPr lang="en-US" altLang="zh-CN" sz="2400" kern="0" dirty="0">
                <a:solidFill>
                  <a:srgbClr val="A8660D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){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x=</a:t>
            </a:r>
            <a:r>
              <a:rPr lang="en-US" altLang="zh-CN" sz="2400" kern="0" dirty="0">
                <a:solidFill>
                  <a:srgbClr val="A8660D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,y=</a:t>
            </a:r>
            <a:r>
              <a:rPr lang="en-US" altLang="zh-CN" sz="2400" kern="0" dirty="0">
                <a:solidFill>
                  <a:srgbClr val="A8660D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400" b="1" kern="0" dirty="0">
                <a:solidFill>
                  <a:srgbClr val="2239A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a;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}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2400" b="1" kern="0" dirty="0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g=</a:t>
            </a:r>
            <a:r>
              <a:rPr lang="en-US" altLang="zh-CN" sz="2400" kern="0" dirty="0" err="1">
                <a:solidFill>
                  <a:srgbClr val="A8227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exgcd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b,a%b,x,y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2400" b="1" kern="0" dirty="0">
                <a:solidFill>
                  <a:srgbClr val="8C1D6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t=x;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x=y;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y=t-a/b*y;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sz="2400" b="1" kern="0" dirty="0">
                <a:solidFill>
                  <a:srgbClr val="2239A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g;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indent="0" algn="l">
              <a:spcBef>
                <a:spcPts val="0"/>
              </a:spcBef>
              <a:spcAft>
                <a:spcPts val="720"/>
              </a:spcAf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en-US" altLang="zh-CN" sz="24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8200" y="3276600"/>
            <a:ext cx="4181474" cy="1457325"/>
          </a:xfrm>
          <a:prstGeom prst="rect">
            <a:avLst/>
          </a:prstGeom>
          <a:solidFill>
            <a:srgbClr val="5B9BD5">
              <a:alpha val="1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/>
          <p:cNvSpPr/>
          <p:nvPr/>
        </p:nvSpPr>
        <p:spPr>
          <a:xfrm>
            <a:off x="5348287" y="3867150"/>
            <a:ext cx="1290638" cy="238125"/>
          </a:xfrm>
          <a:prstGeom prst="rightArrow">
            <a:avLst>
              <a:gd name="adj1" fmla="val 50000"/>
              <a:gd name="adj2" fmla="val 1454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336550"/>
            <a:ext cx="10515600" cy="98702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98770" y="1323570"/>
                <a:ext cx="5546386" cy="4959350"/>
              </a:xfrm>
            </p:spPr>
            <p:txBody>
              <a:bodyPr numCol="1">
                <a:normAutofit fontScale="97500" lnSpcReduction="10000"/>
              </a:bodyPr>
              <a:lstStyle/>
              <a:p>
                <a:r>
                  <a:rPr lang="zh-CN" altLang="en-US" dirty="0"/>
                  <a:t>利用扩展欧几里德，可以求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的一组整数解</a:t>
                </a:r>
                <a:endParaRPr lang="en-US" altLang="zh-CN" dirty="0"/>
              </a:p>
              <a:p>
                <a:r>
                  <a:rPr lang="zh-CN" altLang="en-US" dirty="0"/>
                  <a:t>如果要求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呢？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我们假设已经得到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’+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的一组解，若求解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：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% 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时，无解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否则，令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，则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得到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如果要求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非负且最小呢？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我们假设已经得到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的一组解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8770" y="1323570"/>
                <a:ext cx="5546386" cy="4959350"/>
              </a:xfrm>
              <a:blipFill rotWithShape="1">
                <a:blip r:embed="rId1"/>
                <a:stretch>
                  <a:fillRect l="-5" t="-363" r="10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058712" y="1562100"/>
                <a:ext cx="5546386" cy="4959350"/>
              </a:xfrm>
            </p:spPr>
            <p:txBody>
              <a:bodyPr>
                <a:normAutofit fontScale="97500" lnSpcReduction="10000"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𝑙𝑐𝑚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∗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𝑔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  <a:sym typeface="+mn-ea"/>
                      </a:rPr>
                      <m:t>lcm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  <a:sym typeface="+mn-ea"/>
                      </a:rPr>
                      <m:t>lcm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𝑐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+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𝑔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𝑐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>
                    <a:sym typeface="+mn-ea"/>
                  </a:rPr>
                  <a:t>由此可得，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𝑥</m:t>
                    </m:r>
                  </m:oMath>
                </a14:m>
                <a:r>
                  <a:rPr lang="zh-CN" altLang="en-US" dirty="0">
                    <a:sym typeface="+mn-ea"/>
                  </a:rPr>
                  <a:t>加上或减去任意倍数的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dirty="0">
                    <a:sym typeface="+mn-ea"/>
                  </a:rPr>
                  <a:t>后均有对应的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𝑦</m:t>
                    </m:r>
                  </m:oMath>
                </a14:m>
                <a:r>
                  <a:rPr lang="zh-CN" altLang="en-US" dirty="0">
                    <a:sym typeface="+mn-ea"/>
                  </a:rPr>
                  <a:t>的解</a:t>
                </a:r>
                <a:endParaRPr lang="zh-CN" altLang="en-US" dirty="0"/>
              </a:p>
              <a:p>
                <a:pPr lvl="1"/>
                <a:r>
                  <a:rPr lang="zh-CN" altLang="en-US" dirty="0">
                    <a:sym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⁡(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dirty="0">
                    <a:sym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𝑡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+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sym typeface="+mn-ea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)%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𝑡</m:t>
                    </m:r>
                  </m:oMath>
                </a14:m>
                <a:r>
                  <a:rPr lang="zh-CN" altLang="en-US" dirty="0">
                    <a:sym typeface="+mn-ea"/>
                  </a:rPr>
                  <a:t>就是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𝑥</m:t>
                    </m:r>
                  </m:oMath>
                </a14:m>
                <a:r>
                  <a:rPr lang="zh-CN" altLang="en-US" dirty="0">
                    <a:sym typeface="+mn-ea"/>
                  </a:rPr>
                  <a:t>的最小非负解</a:t>
                </a:r>
                <a:endParaRPr lang="zh-CN" altLang="en-US" dirty="0"/>
              </a:p>
              <a:p>
                <a:r>
                  <a:rPr lang="zh-CN" altLang="en-US" dirty="0">
                    <a:sym typeface="+mn-ea"/>
                  </a:rPr>
                  <a:t>求解线性同余方程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ym typeface="+mn-ea"/>
                  </a:rPr>
                  <a:t>形如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𝑎𝑥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sym typeface="+mn-ea"/>
                      </a:rPr>
                      <m:t>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  <a:sym typeface="+mn-ea"/>
                      </a:rPr>
                      <m:t>mod</m:t>
                    </m:r>
                    <m:r>
                      <a:rPr lang="en-US" i="1" dirty="0">
                        <a:latin typeface="Cambria Math" panose="02040503050406030204" pitchFamily="18" charset="0"/>
                        <a:sym typeface="+mn-ea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dirty="0">
                    <a:sym typeface="+mn-ea"/>
                  </a:rPr>
                  <a:t>的方程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ym typeface="+mn-ea"/>
                  </a:rPr>
                  <a:t>与不定方程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𝑝𝑦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+mn-ea"/>
                      </a:rPr>
                      <m:t>𝑏</m:t>
                    </m:r>
                  </m:oMath>
                </a14:m>
                <a:r>
                  <a:rPr lang="zh-CN" altLang="en-US" dirty="0">
                    <a:sym typeface="+mn-ea"/>
                  </a:rPr>
                  <a:t>同解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58712" y="1562100"/>
                <a:ext cx="5546386" cy="4959350"/>
              </a:xfrm>
              <a:blipFill rotWithShape="1">
                <a:blip r:embed="rId2"/>
                <a:stretch>
                  <a:fillRect l="-3" t="-397" r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3.</a:t>
            </a:r>
            <a:r>
              <a:rPr lang="zh-CN" altLang="en-US" dirty="0"/>
              <a:t>同余方程</a:t>
            </a:r>
            <a:r>
              <a:rPr lang="en-US" altLang="zh-CN" dirty="0"/>
              <a:t>(NOIP2012 D2T1)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求关于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的同余方程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的最小正整数解。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≤</a:t>
                </a:r>
                <a:r>
                  <a:rPr lang="en-US" altLang="zh-CN" dirty="0"/>
                  <a:t>2,000,000,000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【</a:t>
                </a:r>
                <a:r>
                  <a:rPr lang="zh-CN" altLang="en-US" dirty="0"/>
                  <a:t>简单分析</a:t>
                </a:r>
                <a:r>
                  <a:rPr lang="en-US" altLang="zh-CN" dirty="0"/>
                  <a:t>】</a:t>
                </a:r>
                <a:endParaRPr lang="en-US" altLang="zh-CN" dirty="0"/>
              </a:p>
              <a:p>
                <a:r>
                  <a:rPr lang="zh-CN" altLang="en-US" dirty="0"/>
                  <a:t>即求满足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的最小正整数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，无解</a:t>
                </a:r>
                <a:endParaRPr lang="en-US" altLang="zh-CN" dirty="0"/>
              </a:p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，利用扩展欧几里得求解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知道一组解，求最小正整数解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)%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4.</a:t>
            </a:r>
            <a:r>
              <a:rPr lang="zh-CN" altLang="en-US" dirty="0"/>
              <a:t>青蛙的约会</a:t>
            </a:r>
            <a:r>
              <a:rPr lang="en-US" altLang="zh-CN" dirty="0"/>
              <a:t>(BZOJ1477</a:t>
            </a:r>
            <a:r>
              <a:rPr lang="zh-CN" altLang="en-US" dirty="0"/>
              <a:t>，洛谷</a:t>
            </a:r>
            <a:r>
              <a:rPr lang="en-US" altLang="zh-CN" dirty="0"/>
              <a:t>1516)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有一个环形棋盘，每个格子编号为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，有两只青蛙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，起始坐标分别为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，每一秒，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向后跳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格，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向后跳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格，求最早几秒后两青蛙相遇或永远不会相遇。</a:t>
                </a: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均在</a:t>
                </a:r>
                <a:r>
                  <a:rPr lang="en-US" altLang="zh-CN" dirty="0"/>
                  <a:t>int</a:t>
                </a:r>
                <a:r>
                  <a:rPr lang="zh-CN" altLang="en-US" dirty="0"/>
                  <a:t>范围内</a:t>
                </a: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秒后相遇，由题意得：</a:t>
                </a:r>
                <a:endParaRPr lang="zh-CN" altLang="en-US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(%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(%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𝑘𝑛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然后就可以用</a:t>
                </a:r>
                <a:r>
                  <a:rPr lang="en-US" altLang="zh-CN" dirty="0" err="1"/>
                  <a:t>exgcd</a:t>
                </a:r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的最小非负整数解了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5.</a:t>
            </a:r>
            <a:r>
              <a:rPr lang="zh-CN" altLang="en-US" dirty="0"/>
              <a:t>向量</a:t>
            </a:r>
            <a:r>
              <a:rPr lang="en-US" altLang="zh-CN" dirty="0"/>
              <a:t>(HNOI2011</a:t>
            </a:r>
            <a:r>
              <a:rPr lang="zh-CN" altLang="en-US" dirty="0"/>
              <a:t>，洛谷</a:t>
            </a:r>
            <a:r>
              <a:rPr lang="en-US" altLang="zh-CN" dirty="0"/>
              <a:t>2520)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281544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给出一对数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，你可以任意使用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这些向量，问是否能拼凑出一个向量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</a:t>
                </a:r>
                <a:r>
                  <a:rPr lang="zh-CN" altLang="en-US" dirty="0"/>
                  <a:t>每个向量可以多次使用</a:t>
                </a:r>
                <a:r>
                  <a:rPr lang="en-US" altLang="zh-CN" dirty="0"/>
                  <a:t>)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每个测试点有不超过</a:t>
                </a:r>
                <a:r>
                  <a:rPr lang="en-US" altLang="zh-CN" dirty="0"/>
                  <a:t>50000</a:t>
                </a:r>
                <a:r>
                  <a:rPr lang="zh-CN" altLang="en-US" dirty="0"/>
                  <a:t>组询问，每个询问占一行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个数，分别是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2815444"/>
              </a:xfrm>
              <a:blipFill rotWithShape="1">
                <a:blip r:embed="rId1"/>
                <a:stretch>
                  <a:fillRect b="-10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600515" y="4288382"/>
          <a:ext cx="4990970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485"/>
                <a:gridCol w="249548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输入样例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输出样例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3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/>
                        <a:t>2 1 3 3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/>
                        <a:t>1 1 0 1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/>
                        <a:t>1 0 -2 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Y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/>
                        <a:t>N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所有操作可以化简为以下几种：</a:t>
                </a:r>
                <a:endParaRPr lang="zh-CN" alt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其中第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种操作最多用一次，可以枚举第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种操作的使用次数，然后考虑</a:t>
                </a:r>
                <a:endParaRPr lang="zh-CN" alt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有解当且仅当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的倍数</a:t>
                </a:r>
                <a:endParaRPr lang="zh-CN" alt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有解当且仅当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的倍数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686" y="1197204"/>
            <a:ext cx="11266627" cy="42891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数论中的重要定理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257800"/>
              </a:xfrm>
            </p:spPr>
            <p:txBody>
              <a:bodyPr>
                <a:normAutofit/>
              </a:bodyPr>
              <a:lstStyle/>
              <a:p>
                <a:pPr fontAlgn="auto">
                  <a:lnSpc>
                    <a:spcPct val="120000"/>
                  </a:lnSpc>
                </a:pPr>
                <a:r>
                  <a:rPr lang="zh-CN" altLang="en-US" dirty="0"/>
                  <a:t>裴蜀定理</a:t>
                </a:r>
                <a:endParaRPr lang="en-US" altLang="zh-CN" dirty="0"/>
              </a:p>
              <a:p>
                <a:pPr lvl="1" fontAlgn="auto">
                  <a:lnSpc>
                    <a:spcPct val="120000"/>
                  </a:lnSpc>
                </a:pP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是整数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𝑔𝑐𝑑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/>
                  <a:t>，那么对于任意的整数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zh-CN" altLang="en-US" dirty="0"/>
                  <a:t>都一定是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/>
                  <a:t>的倍数</a:t>
                </a:r>
                <a:r>
                  <a:rPr lang="en-US" altLang="zh-CN" dirty="0"/>
                  <a:t>. </a:t>
                </a:r>
                <a:r>
                  <a:rPr lang="zh-CN" altLang="en-US" dirty="0"/>
                  <a:t>特别地，一定存在整数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，使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/>
                  <a:t>成立</a:t>
                </a:r>
                <a:r>
                  <a:rPr lang="en-US" altLang="zh-CN" dirty="0"/>
                  <a:t>.</a:t>
                </a:r>
                <a:endParaRPr lang="en-US" altLang="zh-CN" dirty="0"/>
              </a:p>
              <a:p>
                <a:pPr lvl="1" fontAlgn="auto">
                  <a:lnSpc>
                    <a:spcPct val="120000"/>
                  </a:lnSpc>
                </a:pPr>
                <a:r>
                  <a:rPr lang="zh-CN" altLang="en-US" dirty="0"/>
                  <a:t>重要推论：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的充要条件是存在整数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使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.</a:t>
                </a:r>
                <a:endParaRPr lang="en-US" altLang="zh-CN" dirty="0"/>
              </a:p>
              <a:p>
                <a:pPr lvl="1" fontAlgn="auto">
                  <a:lnSpc>
                    <a:spcPct val="120000"/>
                  </a:lnSpc>
                </a:pPr>
                <a:r>
                  <a:rPr lang="zh-CN" altLang="en-US" dirty="0"/>
                  <a:t>与欧几里得算法一脉相承</a:t>
                </a:r>
                <a:endParaRPr lang="en-US" altLang="zh-CN" dirty="0"/>
              </a:p>
              <a:p>
                <a:pPr lvl="1" fontAlgn="auto"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2578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数论中的重要定理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88157" y="1143000"/>
                <a:ext cx="11010507" cy="52578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威尔逊定理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是素数，则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)!≡−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反之，若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)!≡−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，则正整数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一定是素数</a:t>
                </a:r>
                <a:r>
                  <a:rPr lang="en-US" altLang="zh-CN" dirty="0"/>
                  <a:t>.</a:t>
                </a:r>
                <a:endParaRPr lang="en-US" altLang="zh-CN" dirty="0"/>
              </a:p>
              <a:p>
                <a:r>
                  <a:rPr lang="zh-CN" altLang="en-US" dirty="0"/>
                  <a:t>证明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充分性</a:t>
                </a:r>
                <a:endParaRPr lang="en-US" altLang="zh-CN" dirty="0"/>
              </a:p>
              <a:p>
                <a:pPr lvl="2"/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考虑在</a:t>
                </a:r>
                <a:r>
                  <a:rPr kumimoji="1" lang="en-US" altLang="zh-CN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mod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zh-CN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 </a:t>
                </a:r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意义下的完全剩余系（不包括</a:t>
                </a:r>
                <a:r>
                  <a:rPr kumimoji="1" lang="en-US" altLang="zh-CN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0</a:t>
                </a:r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）</a:t>
                </a:r>
                <a:r>
                  <a:rPr kumimoji="1" lang="en-US" altLang="zh-CN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{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}</a:t>
                </a:r>
                <a:endParaRPr kumimoji="1" lang="en-US" altLang="zh-CN" b="0" dirty="0">
                  <a:solidFill>
                    <a:srgbClr val="000000">
                      <a:lumMod val="75000"/>
                      <a:lumOff val="25000"/>
                    </a:srgbClr>
                  </a:solidFill>
                </a:endParaRPr>
              </a:p>
              <a:p>
                <a:pPr lvl="2"/>
                <a:r>
                  <a:rPr kumimoji="1" lang="zh-CN" altLang="en-US" i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+mj-lt"/>
                  </a:rPr>
                  <a:t>考虑逆元</a:t>
                </a:r>
                <a:r>
                  <a:rPr kumimoji="1" lang="zh-CN" altLang="en-US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kumimoji="1" lang="en-US" altLang="zh-CN" b="0" i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kumimoji="1" lang="en-US" altLang="zh-CN" b="0" i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CN" b="0" i="0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zh-CN" altLang="en-US" i="1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b="0" i="0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1" lang="zh-CN" altLang="en-US" i="1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即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)≡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)，因为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1" lang="zh-CN" altLang="en-US" i="1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kumimoji="1" lang="zh-CN" altLang="en-US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素数，所以只有</a:t>
                </a:r>
                <a14:m>
                  <m:oMath xmlns:m="http://schemas.openxmlformats.org/officeDocument/2006/math">
                    <m:r>
                      <a:rPr kumimoji="1" lang="en-US" altLang="zh-CN" b="0" i="0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zh-CN" altLang="en-US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与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，逆元是其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本身</m:t>
                    </m:r>
                  </m:oMath>
                </a14:m>
                <a:endParaRPr kumimoji="1" lang="en-US" altLang="zh-CN" b="0" dirty="0">
                  <a:solidFill>
                    <a:srgbClr val="000000">
                      <a:lumMod val="75000"/>
                      <a:lumOff val="25000"/>
                    </a:srgbClr>
                  </a:solidFill>
                </a:endParaRPr>
              </a:p>
              <a:p>
                <a:pPr lvl="2"/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对于其他元素，其逆元必不相同（考虑反证，假设存在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i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+mj-lt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b="0" i="1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1" lang="zh-CN" altLang="en-US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则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b="0" i="1" dirty="0" smtClean="0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dirty="0" smtClean="0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b="0" i="1" dirty="0" smtClean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b="0" i="1" dirty="0" smtClean="0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dirty="0" smtClean="0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zh-CN" b="0" i="1" dirty="0" smtClean="0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CN" b="0" i="0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1" lang="en-US" altLang="zh-CN" b="0" i="1" dirty="0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)，</m:t>
                    </m:r>
                  </m:oMath>
                </a14:m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易得矛盾）</a:t>
                </a:r>
                <a:endParaRPr kumimoji="1" lang="en-US" altLang="zh-CN" dirty="0">
                  <a:solidFill>
                    <a:srgbClr val="000000">
                      <a:lumMod val="75000"/>
                      <a:lumOff val="25000"/>
                    </a:srgbClr>
                  </a:solidFill>
                </a:endParaRPr>
              </a:p>
              <a:p>
                <a:pPr lvl="2"/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所以对于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kumimoji="1" lang="en-US" altLang="zh-CN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zh-CN" altLang="en-US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这</m:t>
                    </m:r>
                  </m:oMath>
                </a14:m>
                <a:r>
                  <a:rPr kumimoji="1" lang="zh-CN" altLang="en-US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偶数个数，必然可以两两分组，它们的乘积</a:t>
                </a:r>
                <a:r>
                  <a:rPr kumimoji="1" lang="en-US" altLang="zh-CN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mod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zh-CN" altLang="en-US" b="0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的值为</a:t>
                </a:r>
                <a:r>
                  <a:rPr kumimoji="1" lang="en-US" altLang="zh-CN" b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1</a:t>
                </a:r>
                <a:endParaRPr kumimoji="1" lang="en-US" altLang="zh-CN" b="0" dirty="0">
                  <a:solidFill>
                    <a:srgbClr val="000000">
                      <a:lumMod val="75000"/>
                      <a:lumOff val="25000"/>
                    </a:srgbClr>
                  </a:solidFill>
                </a:endParaRPr>
              </a:p>
              <a:p>
                <a:pPr lvl="2"/>
                <a:endParaRPr kumimoji="1" lang="en-US" altLang="zh-CN" b="0" dirty="0">
                  <a:solidFill>
                    <a:srgbClr val="000000">
                      <a:lumMod val="75000"/>
                      <a:lumOff val="25000"/>
                    </a:srgbClr>
                  </a:solidFill>
                </a:endParaRPr>
              </a:p>
              <a:p>
                <a:pPr lvl="2"/>
                <a:endParaRPr kumimoji="1" lang="en-US" altLang="zh-CN" b="0" dirty="0">
                  <a:solidFill>
                    <a:srgbClr val="000000">
                      <a:lumMod val="75000"/>
                      <a:lumOff val="25000"/>
                    </a:srgbClr>
                  </a:solidFill>
                </a:endParaRPr>
              </a:p>
              <a:p>
                <a:pPr lvl="2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157" y="1143000"/>
                <a:ext cx="11010507" cy="5257800"/>
              </a:xfrm>
              <a:blipFill rotWithShape="1">
                <a:blip r:embed="rId1"/>
                <a:stretch>
                  <a:fillRect l="-4" r="1" b="-13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数论中的重要定理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88157" y="1143000"/>
                <a:ext cx="11010507" cy="52578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费马小定理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为素数，且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欧拉定理</a:t>
                </a:r>
                <a:endParaRPr lang="en-US" altLang="zh-CN" dirty="0"/>
              </a:p>
              <a:p>
                <a:pPr lvl="1"/>
                <a:r>
                  <a:rPr kumimoji="1" lang="zh-CN" altLang="en-US" dirty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kumimoji="1" lang="en-US" altLang="zh-CN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zh-CN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kumimoji="1" lang="en-US" altLang="zh-CN" i="1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solidFill>
                                  <a:srgbClr val="000000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sup>
                    </m:sSup>
                    <m:r>
                      <a:rPr kumimoji="1" lang="en-US" altLang="zh-CN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≡</m:t>
                    </m:r>
                    <m:r>
                      <a:rPr kumimoji="1" lang="en-US" altLang="zh-CN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kumimoji="1" lang="en-US" altLang="zh-CN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1" lang="en-US" altLang="zh-CN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kumimoji="1" lang="en-US" altLang="zh-CN" dirty="0">
                  <a:solidFill>
                    <a:srgbClr val="000000">
                      <a:lumMod val="75000"/>
                      <a:lumOff val="25000"/>
                    </a:srgbClr>
                  </a:solidFill>
                  <a:ea typeface="Songti SC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𝜑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dirty="0"/>
                  <a:t>为欧拉函数，定义为小于等于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dirty="0"/>
                  <a:t>且与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dirty="0"/>
                  <a:t>互质的数的个数</a:t>
                </a:r>
                <a:endParaRPr kumimoji="1" lang="zh-CN" altLang="en-US" dirty="0">
                  <a:solidFill>
                    <a:srgbClr val="000000">
                      <a:lumMod val="75000"/>
                      <a:lumOff val="25000"/>
                    </a:srgbClr>
                  </a:solidFill>
                  <a:ea typeface="Songti SC" charset="-122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157" y="1143000"/>
                <a:ext cx="11010507" cy="5257800"/>
              </a:xfrm>
              <a:blipFill rotWithShape="1">
                <a:blip r:embed="rId1"/>
                <a:stretch>
                  <a:fillRect l="-4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欧拉函数的重要性质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CN" altLang="en-US" dirty="0"/>
                  <a:t>设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kumimoji="1" lang="zh-CN" altLang="en-US" dirty="0"/>
                  <a:t>，则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/>
              </a:p>
              <a:p>
                <a:r>
                  <a:rPr kumimoji="1" lang="zh-CN" altLang="en-US" dirty="0"/>
                  <a:t>若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/>
                  <a:t>为素数，则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zh-CN" dirty="0"/>
              </a:p>
              <a:p>
                <a:r>
                  <a:rPr kumimoji="1" lang="zh-CN" altLang="en-US" dirty="0"/>
                  <a:t>欧拉函数是积性函数</a:t>
                </a:r>
                <a:endParaRPr kumimoji="1" lang="en-US" altLang="zh-CN" dirty="0"/>
              </a:p>
              <a:p>
                <a:pPr lvl="1"/>
                <a:r>
                  <a:rPr kumimoji="1" lang="zh-CN" altLang="en-US" dirty="0"/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dirty="0"/>
                  <a:t>则</a:t>
                </a:r>
                <a14:m>
                  <m:oMath xmlns:m="http://schemas.openxmlformats.org/officeDocument/2006/math">
                    <m:r>
                      <a:rPr kumimoji="1" lang="zh-CN" altLang="en-US" i="1" dirty="0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d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zh-CN" alt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zh-CN" alt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6.</a:t>
            </a:r>
            <a:r>
              <a:rPr lang="zh-CN" altLang="en-US" dirty="0"/>
              <a:t>小凯的疑惑</a:t>
            </a:r>
            <a:r>
              <a:rPr lang="en-US" altLang="zh-CN" dirty="0"/>
              <a:t>(NOIP2017 D1T1)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小凯手中有两种面值的金币，两种面值均为正整数且彼此互素。每种金币小凯都有无数个。在不找零的情况下，仅凭这两种金币，有些物品他是无法准确支付的。现在小 凯想知道在无法准确支付的物品中，最贵的价值是多少金币？注意：输入数据保证存在小凯无法准确支付的商品。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【</a:t>
            </a:r>
            <a:r>
              <a:rPr lang="zh-CN" altLang="en-US" dirty="0"/>
              <a:t>输入</a:t>
            </a:r>
            <a:r>
              <a:rPr lang="en-US" altLang="zh-CN" dirty="0"/>
              <a:t>】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两个正整数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</a:t>
            </a:r>
            <a:r>
              <a:rPr lang="zh-CN" altLang="en-US" dirty="0"/>
              <a:t>，它们之间用一个空格隔开，表示小凯中金币的面值。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【</a:t>
            </a:r>
            <a:r>
              <a:rPr lang="zh-CN" altLang="en-US" dirty="0"/>
              <a:t>输出</a:t>
            </a:r>
            <a:r>
              <a:rPr lang="en-US" altLang="zh-CN" dirty="0"/>
              <a:t>】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一个正整数 </a:t>
            </a:r>
            <a:r>
              <a:rPr lang="en-US" altLang="zh-CN" dirty="0"/>
              <a:t>N</a:t>
            </a:r>
            <a:r>
              <a:rPr lang="zh-CN" altLang="en-US" dirty="0"/>
              <a:t>，表示不找零的情况下，小凯用手中的金币不能准确支付的最贵的物品的价值。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号称史上最水试题，但考场上想找出正确算法也不简单</a:t>
            </a:r>
            <a:endParaRPr lang="en-US" altLang="zh-CN" dirty="0"/>
          </a:p>
          <a:p>
            <a:r>
              <a:rPr lang="zh-CN" altLang="en-US" dirty="0"/>
              <a:t>问题本质，找出不满足</a:t>
            </a:r>
            <a:r>
              <a:rPr lang="en-US" altLang="zh-CN" dirty="0" err="1"/>
              <a:t>ax+by</a:t>
            </a:r>
            <a:r>
              <a:rPr lang="en-US" altLang="zh-CN" dirty="0"/>
              <a:t>=k(</a:t>
            </a:r>
            <a:r>
              <a:rPr lang="en-US" altLang="zh-CN" dirty="0" err="1"/>
              <a:t>x,y</a:t>
            </a:r>
            <a:r>
              <a:rPr lang="zh-CN" altLang="en-US" dirty="0"/>
              <a:t>≥</a:t>
            </a:r>
            <a:r>
              <a:rPr lang="en-US" altLang="zh-CN" dirty="0"/>
              <a:t>0)</a:t>
            </a:r>
            <a:r>
              <a:rPr lang="zh-CN" altLang="en-US" dirty="0"/>
              <a:t>的最大的</a:t>
            </a:r>
            <a:r>
              <a:rPr lang="en-US" altLang="zh-CN" dirty="0"/>
              <a:t>k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素数的相关算法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唯一分解定理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也称基本算数定理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：</a:t>
                </a:r>
                <a:endParaRPr lang="zh-CN" altLang="en-US" dirty="0"/>
              </a:p>
              <a:p>
                <a:r>
                  <a:rPr lang="zh-CN" altLang="en-US" dirty="0"/>
                  <a:t>任意一个正整数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，将其分解为若干质数的正整数次幂的乘积，该分解方法唯一</a:t>
                </a:r>
                <a:endParaRPr lang="zh-CN" altLang="en-US" dirty="0"/>
              </a:p>
              <a:p>
                <a:r>
                  <a:rPr lang="zh-CN" altLang="en-US" dirty="0"/>
                  <a:t>形如：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∙⋯∙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，⋯，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均为质数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的因数的个数为</a:t>
                </a:r>
                <a:endParaRPr lang="en-US" altLang="zh-CN" dirty="0"/>
              </a:p>
              <a:p>
                <a:pPr lvl="1"/>
                <a:r>
                  <a:rPr lang="en-US" altLang="zh-CN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)∙(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)∙⋯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∙(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素数的相关算法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质因数分解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的算法是显然的，考虑更快的算法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有大于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的质因数，那么它仅有一个该类因数且次数为</a:t>
                </a:r>
                <a:r>
                  <a:rPr lang="en-US" altLang="zh-CN" dirty="0"/>
                  <a:t>1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我们可以只枚举小于等于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lang="zh-CN" altLang="en-US" dirty="0"/>
                  <a:t>的数并判定其是否为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的因数，若是则从中除去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若结束后，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仍大于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，那么此时的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就是那个大于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lang="zh-CN" altLang="en-US" dirty="0"/>
                  <a:t>的质因数。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时间复杂度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lang="en-US" altLang="zh-CN" dirty="0"/>
                  <a:t> )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z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57767" y="3808430"/>
            <a:ext cx="6066016" cy="26156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素数的相关算法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zh-CN" altLang="en-US" dirty="0"/>
              <a:t>ollard_</a:t>
            </a:r>
            <a:r>
              <a:rPr lang="en-US" altLang="zh-CN" dirty="0"/>
              <a:t>R</a:t>
            </a:r>
            <a:r>
              <a:rPr lang="zh-CN" altLang="en-US" dirty="0"/>
              <a:t>ho算法进行质因数分解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素数的相关算法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素数的判定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基本算法，不再赘述</a:t>
                </a:r>
                <a:endParaRPr lang="en-US" altLang="zh-CN" dirty="0"/>
              </a:p>
              <a:p>
                <a:r>
                  <a:rPr lang="zh-CN" altLang="en-US" dirty="0"/>
                  <a:t>如果我们想要求出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以内的所有质数，最简单的方法可以枚举每个数，判断是否为质数，时间复杂度为 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，太慢！</a:t>
                </a:r>
                <a:endParaRPr lang="zh-CN" altLang="en-US" dirty="0"/>
              </a:p>
              <a:p>
                <a:r>
                  <a:rPr lang="zh-CN" altLang="en-US" dirty="0"/>
                  <a:t>素数的筛法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埃氏筛法，时间复杂度</a:t>
                </a:r>
                <a:r>
                  <a:rPr lang="en-US" altLang="zh-CN" dirty="0"/>
                  <a:t>O(n log n)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欧拉筛法，俗称线性筛法，时间复杂度</a:t>
                </a:r>
                <a:r>
                  <a:rPr lang="en-US" altLang="zh-CN" dirty="0"/>
                  <a:t>O(n)</a:t>
                </a:r>
                <a:endParaRPr lang="en-US" altLang="zh-CN" dirty="0"/>
              </a:p>
              <a:p>
                <a:pPr lvl="0"/>
                <a:r>
                  <a:rPr lang="zh-CN" altLang="en-US" dirty="0"/>
                  <a:t>素数测试</a:t>
                </a:r>
                <a:endParaRPr lang="zh-CN" altLang="en-US" dirty="0"/>
              </a:p>
              <a:p>
                <a:pPr lvl="1"/>
                <a:r>
                  <a:rPr lang="en-US" altLang="zh-CN" dirty="0"/>
                  <a:t>Miller-Rabbin</a:t>
                </a:r>
                <a:r>
                  <a:rPr lang="zh-CN" altLang="en-US" dirty="0"/>
                  <a:t>素数测试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8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埃氏筛法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将一个大小为</a:t>
            </a:r>
            <a:r>
              <a:rPr lang="en-US" altLang="zh-CN" dirty="0"/>
              <a:t>n</a:t>
            </a:r>
            <a:r>
              <a:rPr lang="zh-CN" altLang="en-US" dirty="0"/>
              <a:t>的数组</a:t>
            </a:r>
            <a:r>
              <a:rPr lang="en-US" altLang="zh-CN" dirty="0"/>
              <a:t>a</a:t>
            </a:r>
            <a:r>
              <a:rPr lang="zh-CN" altLang="en-US" dirty="0"/>
              <a:t>置为</a:t>
            </a:r>
            <a:r>
              <a:rPr lang="en-US" altLang="zh-CN" dirty="0"/>
              <a:t>1</a:t>
            </a:r>
            <a:r>
              <a:rPr lang="zh-CN" altLang="en-US" dirty="0"/>
              <a:t>，枚举</a:t>
            </a:r>
            <a:r>
              <a:rPr lang="en-US" altLang="zh-CN" dirty="0"/>
              <a:t>n</a:t>
            </a:r>
            <a:r>
              <a:rPr lang="zh-CN" altLang="en-US" dirty="0"/>
              <a:t>以内的每个数，将以其倍数为下标的位置置为</a:t>
            </a:r>
            <a:r>
              <a:rPr lang="en-US" altLang="zh-CN" dirty="0"/>
              <a:t>0</a:t>
            </a:r>
            <a:r>
              <a:rPr lang="zh-CN" altLang="en-US" dirty="0"/>
              <a:t>，最终</a:t>
            </a:r>
            <a:r>
              <a:rPr lang="en-US" altLang="zh-CN" dirty="0"/>
              <a:t>a</a:t>
            </a:r>
            <a:r>
              <a:rPr lang="zh-CN" altLang="en-US" dirty="0"/>
              <a:t>数组内为</a:t>
            </a:r>
            <a:r>
              <a:rPr lang="en-US" altLang="zh-CN" dirty="0"/>
              <a:t>1</a:t>
            </a:r>
            <a:r>
              <a:rPr lang="zh-CN" altLang="en-US" dirty="0"/>
              <a:t>的位置下标为质数，正确性由素数的定义可知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时间复杂度的证明需要使用调和级数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6557" y="2457168"/>
            <a:ext cx="6678885" cy="16865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206" y="4950631"/>
            <a:ext cx="5749026" cy="8657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欧拉筛法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观察埃氏筛法，其缺点在于一个位置可能被反复置</a:t>
            </a:r>
            <a:r>
              <a:rPr lang="en-US" altLang="zh-CN" dirty="0"/>
              <a:t>0</a:t>
            </a:r>
            <a:r>
              <a:rPr lang="zh-CN" altLang="en-US" dirty="0"/>
              <a:t>，浪费了时间</a:t>
            </a:r>
            <a:endParaRPr lang="zh-CN" altLang="en-US" dirty="0"/>
          </a:p>
          <a:p>
            <a:r>
              <a:rPr lang="zh-CN" altLang="en-US" dirty="0"/>
              <a:t>在欧拉筛法中，对于每个合数</a:t>
            </a:r>
            <a:r>
              <a:rPr lang="en-US" altLang="zh-CN" dirty="0"/>
              <a:t>c</a:t>
            </a:r>
            <a:r>
              <a:rPr lang="zh-CN" altLang="en-US" dirty="0"/>
              <a:t>，使得它只被作为其最小质因数的倍数筛掉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1950" y="2512413"/>
            <a:ext cx="6187976" cy="3322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4" y="5835021"/>
            <a:ext cx="6566999" cy="805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积性函数的欧拉筛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Miller-Rabbin素数测试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数论分块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257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数论分块可以快速计算一些含有除法向下取整的和式（即形如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/>
                  <a:t>的和式）。当可以在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内计算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或已经预处理出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的前缀和时，数论分块就可以在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的时间内计算上述和式的值。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2578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对于正整数</a:t>
            </a:r>
            <a:r>
              <a:rPr lang="en-US" altLang="zh-CN" dirty="0" err="1"/>
              <a:t>a,b</a:t>
            </a:r>
            <a:r>
              <a:rPr lang="zh-CN" altLang="en-US" dirty="0"/>
              <a:t>，如果能找到正整数</a:t>
            </a:r>
            <a:r>
              <a:rPr lang="en-US" altLang="zh-CN" dirty="0"/>
              <a:t>x</a:t>
            </a:r>
            <a:r>
              <a:rPr lang="zh-CN" altLang="en-US" dirty="0"/>
              <a:t>使得</a:t>
            </a:r>
            <a:r>
              <a:rPr lang="en-US" altLang="zh-CN" dirty="0"/>
              <a:t>ax ≡ 1 (% b)</a:t>
            </a:r>
            <a:r>
              <a:rPr lang="zh-CN" altLang="en-US" dirty="0"/>
              <a:t>，我们称</a:t>
            </a:r>
            <a:r>
              <a:rPr lang="en-US" altLang="zh-CN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在模</a:t>
            </a:r>
            <a:r>
              <a:rPr lang="en-US" altLang="zh-CN" dirty="0"/>
              <a:t>b</a:t>
            </a:r>
            <a:r>
              <a:rPr lang="zh-CN" altLang="en-US" dirty="0"/>
              <a:t>意义下的逆元。在这里，实际上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x</a:t>
            </a:r>
            <a:r>
              <a:rPr lang="zh-CN" altLang="en-US" dirty="0"/>
              <a:t>互为模</a:t>
            </a:r>
            <a:r>
              <a:rPr lang="en-US" altLang="zh-CN" dirty="0"/>
              <a:t>b</a:t>
            </a:r>
            <a:r>
              <a:rPr lang="zh-CN" altLang="en-US" dirty="0"/>
              <a:t>意义下的逆元。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a</a:t>
            </a:r>
            <a:r>
              <a:rPr lang="zh-CN" altLang="en-US" dirty="0"/>
              <a:t>在模</a:t>
            </a:r>
            <a:r>
              <a:rPr lang="en-US" altLang="zh-CN" dirty="0"/>
              <a:t>b</a:t>
            </a:r>
            <a:r>
              <a:rPr lang="zh-CN" altLang="en-US" dirty="0"/>
              <a:t>意义下存在逆元，当且仅当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)=1</a:t>
            </a:r>
            <a:r>
              <a:rPr lang="zh-CN" altLang="en-US" dirty="0"/>
              <a:t>，即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互质时。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逆元有什么用？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在取模的意义下是不能直接作除法的，有了逆元的概念，我们就可以在模意义下作除法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例如：</a:t>
            </a:r>
            <a:r>
              <a:rPr lang="en-US" altLang="zh-CN" dirty="0"/>
              <a:t>12%11=1</a:t>
            </a:r>
            <a:r>
              <a:rPr lang="zh-CN" altLang="en-US" dirty="0"/>
              <a:t>，</a:t>
            </a:r>
            <a:r>
              <a:rPr lang="en-US" altLang="zh-CN" dirty="0"/>
              <a:t>(12/3)%11=4</a:t>
            </a:r>
            <a:r>
              <a:rPr lang="zh-CN" altLang="en-US" dirty="0"/>
              <a:t>，但是</a:t>
            </a:r>
            <a:r>
              <a:rPr lang="en-US" altLang="zh-CN" dirty="0"/>
              <a:t>(1/3)%11≠4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但我们找到</a:t>
            </a:r>
            <a:r>
              <a:rPr lang="en-US" altLang="zh-CN" dirty="0"/>
              <a:t>3</a:t>
            </a:r>
            <a:r>
              <a:rPr lang="zh-CN" altLang="en-US" dirty="0"/>
              <a:t>在模</a:t>
            </a:r>
            <a:r>
              <a:rPr lang="en-US" altLang="zh-CN" dirty="0"/>
              <a:t>11</a:t>
            </a:r>
            <a:r>
              <a:rPr lang="zh-CN" altLang="en-US" dirty="0"/>
              <a:t>意义下的逆元</a:t>
            </a:r>
            <a:r>
              <a:rPr lang="en-US" altLang="zh-CN" dirty="0"/>
              <a:t>4</a:t>
            </a:r>
            <a:r>
              <a:rPr lang="zh-CN" altLang="en-US" dirty="0"/>
              <a:t>，发现</a:t>
            </a:r>
            <a:r>
              <a:rPr lang="en-US" altLang="zh-CN" dirty="0"/>
              <a:t>(12*4)%11=4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逆元的作用：在模意义下，除以一个数，相当于乘上这个数的逆元。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逆元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如何求解逆元？</a:t>
                </a:r>
                <a:endParaRPr lang="en-US" altLang="zh-CN" dirty="0"/>
              </a:p>
              <a:p>
                <a:r>
                  <a:rPr lang="zh-CN" altLang="en-US" dirty="0"/>
                  <a:t>我们可以通过</a:t>
                </a:r>
                <a:r>
                  <a:rPr lang="en-US" altLang="zh-CN" dirty="0" err="1"/>
                  <a:t>exgcd</a:t>
                </a:r>
                <a:r>
                  <a:rPr lang="zh-CN" altLang="en-US" dirty="0"/>
                  <a:t>进行求解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该方法适用于所有有解的情况</a:t>
                </a:r>
                <a:endParaRPr lang="zh-CN" altLang="en-US" dirty="0"/>
              </a:p>
              <a:p>
                <a:r>
                  <a:rPr lang="zh-CN" altLang="en-US" dirty="0"/>
                  <a:t>当模数为质数时，利用费马小定理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≡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(%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为质数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互质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的逆元等于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原根与阶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关于几个较复杂的定理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CRT</a:t>
            </a:r>
            <a:r>
              <a:rPr lang="zh-CN" altLang="en-US" dirty="0"/>
              <a:t>与</a:t>
            </a:r>
            <a:r>
              <a:rPr lang="en-US" altLang="zh-CN" dirty="0" err="1"/>
              <a:t>exCRT</a:t>
            </a:r>
            <a:endParaRPr lang="en-US" altLang="zh-CN" dirty="0"/>
          </a:p>
          <a:p>
            <a:r>
              <a:rPr lang="en-US" altLang="zh-CN" dirty="0"/>
              <a:t>LUCAS</a:t>
            </a:r>
            <a:r>
              <a:rPr lang="zh-CN" altLang="en-US" dirty="0"/>
              <a:t>与</a:t>
            </a:r>
            <a:r>
              <a:rPr lang="en-US" altLang="zh-CN" dirty="0" err="1"/>
              <a:t>exLUCAS</a:t>
            </a:r>
            <a:endParaRPr lang="en-US" altLang="zh-CN" dirty="0"/>
          </a:p>
          <a:p>
            <a:r>
              <a:rPr lang="en-US" altLang="zh-CN" dirty="0"/>
              <a:t>BSGS</a:t>
            </a:r>
            <a:r>
              <a:rPr lang="zh-CN" altLang="en-US" dirty="0"/>
              <a:t>与</a:t>
            </a:r>
            <a:r>
              <a:rPr lang="en-US" altLang="zh-CN"/>
              <a:t>exBSGS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莫比乌斯反演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莫比乌斯反演的代数证明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莫比乌斯反演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狄利克雷卷积与莫比乌斯反演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2.xml><?xml version="1.0" encoding="utf-8"?>
<p:tagLst xmlns:p="http://schemas.openxmlformats.org/presentationml/2006/main">
  <p:tag name="KSO_WM_UNIT_PLACING_PICTURE_USER_VIEWPORT" val="{&quot;height&quot;:5628,&quot;width&quot;:1083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 cmpd="sng">
          <a:solidFill>
            <a:schemeClr val="accent1">
              <a:shade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7068</Words>
  <Application>WPS 演示</Application>
  <PresentationFormat>宽屏</PresentationFormat>
  <Paragraphs>452</Paragraphs>
  <Slides>45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Cambria Math</vt:lpstr>
      <vt:lpstr>Times New Roman</vt:lpstr>
      <vt:lpstr>Calibri Light</vt:lpstr>
      <vt:lpstr>Calibri</vt:lpstr>
      <vt:lpstr>Arial Unicode MS</vt:lpstr>
      <vt:lpstr>Consolas</vt:lpstr>
      <vt:lpstr>Songti SC</vt:lpstr>
      <vt:lpstr>BatangChe</vt:lpstr>
      <vt:lpstr>Segoe Print</vt:lpstr>
      <vt:lpstr>Office 主题</vt:lpstr>
      <vt:lpstr>数学进阶专题（一）</vt:lpstr>
      <vt:lpstr>基本内容</vt:lpstr>
      <vt:lpstr>整除</vt:lpstr>
      <vt:lpstr>同余</vt:lpstr>
      <vt:lpstr>模运算</vt:lpstr>
      <vt:lpstr>最大公约数（gcd）与最小公倍数（lcm）</vt:lpstr>
      <vt:lpstr>最大公约数（gcd）与最小公倍数（lcm）</vt:lpstr>
      <vt:lpstr>PowerPoint 演示文稿</vt:lpstr>
      <vt:lpstr>最大公约数（gcd）与最小公倍数（lcm）</vt:lpstr>
      <vt:lpstr>例1.欧几里得的游戏（洛谷1290）</vt:lpstr>
      <vt:lpstr>PowerPoint 演示文稿</vt:lpstr>
      <vt:lpstr>讨论</vt:lpstr>
      <vt:lpstr>例2.SuperGCD(洛谷2152，SDOI2009)</vt:lpstr>
      <vt:lpstr>讨论</vt:lpstr>
      <vt:lpstr>扩展欧几里得算法</vt:lpstr>
      <vt:lpstr>扩展欧几里得算法的原理</vt:lpstr>
      <vt:lpstr>扩展欧几里得算法的实现</vt:lpstr>
      <vt:lpstr>讨论</vt:lpstr>
      <vt:lpstr>例3.同余方程(NOIP2012 D2T1)</vt:lpstr>
      <vt:lpstr>例4.青蛙的约会(BZOJ1477，洛谷1516)</vt:lpstr>
      <vt:lpstr>讨论</vt:lpstr>
      <vt:lpstr>例5.向量(HNOI2011，洛谷2520)</vt:lpstr>
      <vt:lpstr>讨论</vt:lpstr>
      <vt:lpstr>PowerPoint 演示文稿</vt:lpstr>
      <vt:lpstr>数论中的重要定理</vt:lpstr>
      <vt:lpstr>数论中的重要定理</vt:lpstr>
      <vt:lpstr>数论中的重要定理</vt:lpstr>
      <vt:lpstr>欧拉函数的重要性质</vt:lpstr>
      <vt:lpstr>例6.小凯的疑惑(NOIP2017 D1T1)</vt:lpstr>
      <vt:lpstr>讨论</vt:lpstr>
      <vt:lpstr>素数的相关算法</vt:lpstr>
      <vt:lpstr>素数的相关算法</vt:lpstr>
      <vt:lpstr>素数的相关算法</vt:lpstr>
      <vt:lpstr>素数的相关算法</vt:lpstr>
      <vt:lpstr>埃氏筛法</vt:lpstr>
      <vt:lpstr>欧拉筛法</vt:lpstr>
      <vt:lpstr>积性函数的欧拉筛</vt:lpstr>
      <vt:lpstr>Miller-Rabbin素数测试</vt:lpstr>
      <vt:lpstr>数论分块</vt:lpstr>
      <vt:lpstr>逆元</vt:lpstr>
      <vt:lpstr>逆元</vt:lpstr>
      <vt:lpstr>PowerPoint 演示文稿</vt:lpstr>
      <vt:lpstr>关于几个较复杂的定理</vt:lpstr>
      <vt:lpstr>莫比乌斯反演</vt:lpstr>
      <vt:lpstr>莫比乌斯反演</vt:lpstr>
    </vt:vector>
  </TitlesOfParts>
  <Company>ZGC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姜涛</dc:creator>
  <cp:lastModifiedBy>math姜</cp:lastModifiedBy>
  <cp:revision>160</cp:revision>
  <dcterms:created xsi:type="dcterms:W3CDTF">2018-09-27T06:47:00Z</dcterms:created>
  <dcterms:modified xsi:type="dcterms:W3CDTF">2022-04-21T06:14:27Z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2052-11.1.0.11636</vt:lpwstr>
  </property>
  <property fmtid="{D5CDD505-2E9C-101B-9397-08002B2CF9AE}" pid="3" name="KSORubyTemplateID">
    <vt:lpwstr>2</vt:lpwstr>
  </property>
  <property fmtid="{D5CDD505-2E9C-101B-9397-08002B2CF9AE}" pid="4" name="ICV">
    <vt:lpwstr>6FF17AD11ACC40E7A5D69DB8458DCF57</vt:lpwstr>
  </property>
</Properties>
</file>
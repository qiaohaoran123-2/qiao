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32"/>
  </p:notesMasterIdLst>
  <p:sldIdLst>
    <p:sldId id="256" r:id="rId3"/>
    <p:sldId id="356" r:id="rId4"/>
    <p:sldId id="559" r:id="rId5"/>
    <p:sldId id="558" r:id="rId6"/>
    <p:sldId id="560" r:id="rId7"/>
    <p:sldId id="561" r:id="rId8"/>
    <p:sldId id="562" r:id="rId9"/>
    <p:sldId id="563" r:id="rId10"/>
    <p:sldId id="564" r:id="rId11"/>
    <p:sldId id="593" r:id="rId12"/>
    <p:sldId id="621" r:id="rId13"/>
    <p:sldId id="649" r:id="rId14"/>
    <p:sldId id="650" r:id="rId15"/>
    <p:sldId id="651" r:id="rId16"/>
    <p:sldId id="659" r:id="rId17"/>
    <p:sldId id="653" r:id="rId18"/>
    <p:sldId id="652" r:id="rId19"/>
    <p:sldId id="660" r:id="rId20"/>
    <p:sldId id="654" r:id="rId21"/>
    <p:sldId id="656" r:id="rId22"/>
    <p:sldId id="655" r:id="rId23"/>
    <p:sldId id="661" r:id="rId24"/>
    <p:sldId id="657" r:id="rId25"/>
    <p:sldId id="658" r:id="rId26"/>
    <p:sldId id="662" r:id="rId27"/>
    <p:sldId id="663" r:id="rId28"/>
    <p:sldId id="664" r:id="rId29"/>
    <p:sldId id="317" r:id="rId30"/>
    <p:sldId id="394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96" autoAdjust="0"/>
    <p:restoredTop sz="94561" autoAdjust="0"/>
  </p:normalViewPr>
  <p:slideViewPr>
    <p:cSldViewPr snapToGrid="0" snapToObjects="1">
      <p:cViewPr varScale="1">
        <p:scale>
          <a:sx n="54" d="100"/>
          <a:sy n="54" d="100"/>
        </p:scale>
        <p:origin x="3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018DC-2C63-4E5A-93F5-2C57426E893B}" type="datetimeFigureOut">
              <a:rPr lang="zh-CN" altLang="en-US" smtClean="0"/>
              <a:t>2023/2/1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CDA2A-7ACC-4F1E-B2CF-52E5A92B24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CDA2A-7ACC-4F1E-B2CF-52E5A92B242F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8783" y="209227"/>
            <a:ext cx="45720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8783" y="209227"/>
            <a:ext cx="45720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"/>
            <a:lum/>
          </a:blip>
          <a:srcRect/>
          <a:stretch>
            <a:fillRect l="22000" t="9000" r="26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60431"/>
            <a:ext cx="720000" cy="288000"/>
          </a:xfrm>
          <a:prstGeom prst="rect">
            <a:avLst/>
          </a:prstGeom>
          <a:solidFill>
            <a:srgbClr val="81262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8902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812625"/>
              </a:solidFill>
              <a:effectLst/>
              <a:uLnTx/>
              <a:uFillTx/>
              <a:latin typeface="Noto Sans S Chinese Light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"/>
            <a:lum/>
          </a:blip>
          <a:srcRect/>
          <a:stretch>
            <a:fillRect l="22000" t="9000" r="26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60431"/>
            <a:ext cx="720000" cy="288000"/>
          </a:xfrm>
          <a:prstGeom prst="rect">
            <a:avLst/>
          </a:prstGeom>
          <a:solidFill>
            <a:srgbClr val="81262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8902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812625"/>
              </a:solidFill>
              <a:effectLst/>
              <a:uLnTx/>
              <a:uFillTx/>
              <a:latin typeface="Noto Sans S Chinese Light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/>
          <p:nvPr/>
        </p:nvSpPr>
        <p:spPr>
          <a:xfrm>
            <a:off x="914400" y="685800"/>
            <a:ext cx="10363200" cy="2127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5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信息学奥赛</a:t>
            </a:r>
            <a:r>
              <a:rPr kumimoji="0" lang="zh-CN" altLang="en-US" sz="5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算法提高</a:t>
            </a:r>
            <a:endParaRPr kumimoji="0" lang="zh-CN" altLang="zh-CN" sz="5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aramond" panose="02020404030301010803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" name="Rectangle 3"/>
          <p:cNvSpPr txBox="1"/>
          <p:nvPr/>
        </p:nvSpPr>
        <p:spPr>
          <a:xfrm>
            <a:off x="1828800" y="3270250"/>
            <a:ext cx="8534400" cy="2209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树形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DP</a:t>
            </a:r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638" y="228600"/>
            <a:ext cx="1606550" cy="213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619020" y="4865187"/>
            <a:ext cx="231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戴伯兮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树形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109791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动态规划就是在“树”的数据结构上的动态规划</a:t>
            </a:r>
          </a:p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9225" y="2178050"/>
            <a:ext cx="8973820" cy="5156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：从根推向叶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09090" y="3084830"/>
            <a:ext cx="8973820" cy="74358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dp[i]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定义：从根到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的最优解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9090" y="3674110"/>
            <a:ext cx="8973820" cy="17272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状态转移：</a:t>
            </a:r>
          </a:p>
          <a:p>
            <a:pPr marL="0" indent="0">
              <a:buNone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 dp[i-1]--&gt;dp[i]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 dp[fa[i]]--&gt;dp[i]</a:t>
            </a: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09090" y="5627370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树上的一条路径作为推导顺序，本质上还是线性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树形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109791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动态规划就是在“树”的数据结构上的动态规划</a:t>
            </a:r>
          </a:p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9225" y="2178050"/>
            <a:ext cx="8973820" cy="5156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情况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：从叶推向根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09090" y="3084830"/>
            <a:ext cx="8973820" cy="74358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dp[i]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为根的子树的整体最优解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9090" y="3674110"/>
            <a:ext cx="8973820" cy="26517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状态转移：</a:t>
            </a:r>
          </a:p>
          <a:p>
            <a:pPr marL="0" indent="0">
              <a:buNone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 dp[i+1]--&gt;dp[i]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 dp[son[1]],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[son[2]]….--&gt;dp[i]</a:t>
            </a: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树不是线性表，有多个后继结点，所以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son[i]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有很多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例题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最大子树和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517144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明对数学饱有兴趣，并且是个勤奋好学的学生，总是在课后留在教室向老师请教一些问题。一天他早晨骑车去上课，路上见到一个老伯正在修剪花花草草，顿时想到了一个有关修剪花卉的问题。于是当日课后，小明就向老师提出了这个问题：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株奇怪的花卉，上面共连有N朵花，共有N-1条枝干将花儿连在一起，并且未修剪时每朵花都不是孤立的。每朵花都有一个“美丽指数”，该数越大说明这朵花越漂亮，也有“美丽指数”为负数的，说明这朵花看着都让人恶心。所谓“修剪”，意为：去掉其中的一条枝条，这样一株花就成了两株，扔掉其中一株。经过一系列“修剪“之后，还剩下最后一株花（也可能是一朵）。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老师的任务就是：通过一系列“修剪”（也可以什么“修剪”都不进行），使剩下的那株（那朵）花卉上所有花朵的“美丽指数”之和最大。</a:t>
            </a:r>
          </a:p>
          <a:p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例题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最大子树和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517144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第一行一个整数N(1≤N≤16000)。表示原始的那株花卉上共N朵花。</a:t>
            </a:r>
          </a:p>
          <a:p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第二行有N个整数，</a:t>
            </a:r>
            <a:r>
              <a:rPr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个整数表示第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朵花的美丽指数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接下来N-1行每行两个整数a,b，表示存在一条连接第a朵花和第b朵花的枝条。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一个数，表示一系列“修剪”之后所能得到的“美丽指数”之和的最大值。保证绝对值不超过2147483647。</a:t>
            </a:r>
          </a:p>
          <a:p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例题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最大子树和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517144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-1 -1 -1 1 1 1 0 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2 5 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3 6 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4 7 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5 7 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6 7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35" y="4911090"/>
            <a:ext cx="4945380" cy="1621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例题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最大子树和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方案一：从根推向叶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9860" y="2222500"/>
            <a:ext cx="935228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状态定义：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29940" y="2233295"/>
            <a:ext cx="601853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从根到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这条路径上的最大子树和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263140" y="3104515"/>
            <a:ext cx="1743710" cy="2691765"/>
            <a:chOff x="3564" y="4889"/>
            <a:chExt cx="2746" cy="4239"/>
          </a:xfrm>
        </p:grpSpPr>
        <p:sp>
          <p:nvSpPr>
            <p:cNvPr id="5" name="椭圆 4"/>
            <p:cNvSpPr/>
            <p:nvPr/>
          </p:nvSpPr>
          <p:spPr>
            <a:xfrm>
              <a:off x="5244" y="4889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4468" y="6373"/>
              <a:ext cx="938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-2</a:t>
              </a:r>
            </a:p>
          </p:txBody>
        </p:sp>
        <p:sp>
          <p:nvSpPr>
            <p:cNvPr id="7" name="椭圆 6"/>
            <p:cNvSpPr/>
            <p:nvPr/>
          </p:nvSpPr>
          <p:spPr>
            <a:xfrm>
              <a:off x="3564" y="8106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1</a:t>
              </a:r>
            </a:p>
          </p:txBody>
        </p:sp>
        <p:sp>
          <p:nvSpPr>
            <p:cNvPr id="8" name="椭圆 7"/>
            <p:cNvSpPr/>
            <p:nvPr/>
          </p:nvSpPr>
          <p:spPr>
            <a:xfrm>
              <a:off x="5406" y="8106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5</a:t>
              </a:r>
            </a:p>
          </p:txBody>
        </p:sp>
        <p:cxnSp>
          <p:nvCxnSpPr>
            <p:cNvPr id="9" name="直接连接符 8"/>
            <p:cNvCxnSpPr>
              <a:stCxn id="5" idx="3"/>
              <a:endCxn id="6" idx="0"/>
            </p:cNvCxnSpPr>
            <p:nvPr/>
          </p:nvCxnSpPr>
          <p:spPr>
            <a:xfrm flipH="1">
              <a:off x="4937" y="5761"/>
              <a:ext cx="439" cy="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stCxn id="6" idx="3"/>
              <a:endCxn id="7" idx="0"/>
            </p:cNvCxnSpPr>
            <p:nvPr/>
          </p:nvCxnSpPr>
          <p:spPr>
            <a:xfrm flipH="1">
              <a:off x="4016" y="7245"/>
              <a:ext cx="589" cy="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6" idx="5"/>
              <a:endCxn id="8" idx="0"/>
            </p:cNvCxnSpPr>
            <p:nvPr/>
          </p:nvCxnSpPr>
          <p:spPr>
            <a:xfrm>
              <a:off x="5269" y="7245"/>
              <a:ext cx="589" cy="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8467364" y="3114040"/>
            <a:ext cx="3076109" cy="2701290"/>
            <a:chOff x="8467364" y="3114040"/>
            <a:chExt cx="3076109" cy="2701290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C89A90D-D01E-608C-2A11-10830F521802}"/>
                </a:ext>
              </a:extLst>
            </p:cNvPr>
            <p:cNvSpPr/>
            <p:nvPr/>
          </p:nvSpPr>
          <p:spPr>
            <a:xfrm>
              <a:off x="9534164" y="3114040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66BF580-1BE2-D9B1-FEB1-3CAE9BBEA374}"/>
                </a:ext>
              </a:extLst>
            </p:cNvPr>
            <p:cNvSpPr/>
            <p:nvPr/>
          </p:nvSpPr>
          <p:spPr>
            <a:xfrm>
              <a:off x="9041404" y="4056380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-2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5D78F6DB-0D77-BC46-DE28-C6F5634D9C8C}"/>
                </a:ext>
              </a:extLst>
            </p:cNvPr>
            <p:cNvSpPr/>
            <p:nvPr/>
          </p:nvSpPr>
          <p:spPr>
            <a:xfrm>
              <a:off x="8467364" y="515683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1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A3A347A-DB11-6AA7-4973-D46E3BE6C125}"/>
                </a:ext>
              </a:extLst>
            </p:cNvPr>
            <p:cNvSpPr/>
            <p:nvPr/>
          </p:nvSpPr>
          <p:spPr>
            <a:xfrm>
              <a:off x="9379759" y="5166360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DCDB967-29CA-C83B-0843-6F51824771EB}"/>
                </a:ext>
              </a:extLst>
            </p:cNvPr>
            <p:cNvCxnSpPr>
              <a:cxnSpLocks/>
              <a:stCxn id="16" idx="3"/>
              <a:endCxn id="17" idx="0"/>
            </p:cNvCxnSpPr>
            <p:nvPr/>
          </p:nvCxnSpPr>
          <p:spPr>
            <a:xfrm flipH="1">
              <a:off x="9339219" y="3667760"/>
              <a:ext cx="278765" cy="38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39BFAF7A-8517-F0FC-72DF-450CFEA2EF00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 flipH="1">
              <a:off x="8754384" y="4705350"/>
              <a:ext cx="584835" cy="451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3C297A1-5D27-75F4-5E5C-8F31A3774C5E}"/>
                </a:ext>
              </a:extLst>
            </p:cNvPr>
            <p:cNvCxnSpPr>
              <a:cxnSpLocks/>
              <a:stCxn id="17" idx="4"/>
              <a:endCxn id="19" idx="0"/>
            </p:cNvCxnSpPr>
            <p:nvPr/>
          </p:nvCxnSpPr>
          <p:spPr>
            <a:xfrm>
              <a:off x="9339219" y="4705350"/>
              <a:ext cx="327560" cy="4610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EB12B02-8685-9843-8E95-50D716147740}"/>
                </a:ext>
              </a:extLst>
            </p:cNvPr>
            <p:cNvSpPr/>
            <p:nvPr/>
          </p:nvSpPr>
          <p:spPr>
            <a:xfrm>
              <a:off x="10186303" y="515683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A8F9E6D-49A9-0F9B-818C-56681C55ABA0}"/>
                </a:ext>
              </a:extLst>
            </p:cNvPr>
            <p:cNvCxnSpPr>
              <a:cxnSpLocks/>
              <a:stCxn id="17" idx="4"/>
              <a:endCxn id="23" idx="0"/>
            </p:cNvCxnSpPr>
            <p:nvPr/>
          </p:nvCxnSpPr>
          <p:spPr>
            <a:xfrm>
              <a:off x="9339219" y="4705350"/>
              <a:ext cx="1134104" cy="451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0131E86-2BE4-04D6-5FB7-AF8FEBA40DE0}"/>
                </a:ext>
              </a:extLst>
            </p:cNvPr>
            <p:cNvSpPr/>
            <p:nvPr/>
          </p:nvSpPr>
          <p:spPr>
            <a:xfrm>
              <a:off x="10969433" y="515683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FB8CBF2-90EB-BE6C-E3DA-FAB621241D1B}"/>
                </a:ext>
              </a:extLst>
            </p:cNvPr>
            <p:cNvCxnSpPr>
              <a:cxnSpLocks/>
              <a:stCxn id="17" idx="4"/>
              <a:endCxn id="25" idx="0"/>
            </p:cNvCxnSpPr>
            <p:nvPr/>
          </p:nvCxnSpPr>
          <p:spPr>
            <a:xfrm>
              <a:off x="9339219" y="4705350"/>
              <a:ext cx="1917234" cy="451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01198D7-EF26-7053-2512-81A7ED8CA89A}"/>
              </a:ext>
            </a:extLst>
          </p:cNvPr>
          <p:cNvGrpSpPr/>
          <p:nvPr/>
        </p:nvGrpSpPr>
        <p:grpSpPr>
          <a:xfrm>
            <a:off x="5405892" y="3123565"/>
            <a:ext cx="1743710" cy="2691765"/>
            <a:chOff x="3564" y="4889"/>
            <a:chExt cx="2746" cy="4239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87C109D-1FD4-E442-EE2F-170AAEE6BCC0}"/>
                </a:ext>
              </a:extLst>
            </p:cNvPr>
            <p:cNvSpPr/>
            <p:nvPr/>
          </p:nvSpPr>
          <p:spPr>
            <a:xfrm>
              <a:off x="5244" y="4889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140508C9-DD9A-400A-B873-2BAB9004C26A}"/>
                </a:ext>
              </a:extLst>
            </p:cNvPr>
            <p:cNvSpPr/>
            <p:nvPr/>
          </p:nvSpPr>
          <p:spPr>
            <a:xfrm>
              <a:off x="4468" y="6373"/>
              <a:ext cx="938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-2</a:t>
              </a: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2E53145D-5E25-814D-7AE1-716E24418B06}"/>
                </a:ext>
              </a:extLst>
            </p:cNvPr>
            <p:cNvSpPr/>
            <p:nvPr/>
          </p:nvSpPr>
          <p:spPr>
            <a:xfrm>
              <a:off x="3564" y="8106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1</a:t>
              </a: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ADFEA1CB-E740-96E4-396E-900609B4F89E}"/>
                </a:ext>
              </a:extLst>
            </p:cNvPr>
            <p:cNvSpPr/>
            <p:nvPr/>
          </p:nvSpPr>
          <p:spPr>
            <a:xfrm>
              <a:off x="5406" y="8106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5</a:t>
              </a: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03D79EA-DD1D-3F89-D9AB-EA45B02D57A0}"/>
                </a:ext>
              </a:extLst>
            </p:cNvPr>
            <p:cNvCxnSpPr>
              <a:stCxn id="44" idx="3"/>
              <a:endCxn id="45" idx="0"/>
            </p:cNvCxnSpPr>
            <p:nvPr/>
          </p:nvCxnSpPr>
          <p:spPr>
            <a:xfrm flipH="1">
              <a:off x="4937" y="5761"/>
              <a:ext cx="439" cy="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2AA78B4-73E2-EBF6-153A-957276AB287C}"/>
                </a:ext>
              </a:extLst>
            </p:cNvPr>
            <p:cNvCxnSpPr>
              <a:stCxn id="45" idx="3"/>
              <a:endCxn id="46" idx="0"/>
            </p:cNvCxnSpPr>
            <p:nvPr/>
          </p:nvCxnSpPr>
          <p:spPr>
            <a:xfrm flipH="1">
              <a:off x="4016" y="7245"/>
              <a:ext cx="589" cy="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B41CD920-5192-4BF7-4F02-003CA8393DF4}"/>
                </a:ext>
              </a:extLst>
            </p:cNvPr>
            <p:cNvCxnSpPr>
              <a:stCxn id="45" idx="5"/>
              <a:endCxn id="47" idx="0"/>
            </p:cNvCxnSpPr>
            <p:nvPr/>
          </p:nvCxnSpPr>
          <p:spPr>
            <a:xfrm>
              <a:off x="5269" y="7245"/>
              <a:ext cx="589" cy="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例题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最大子树和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方案二：从叶推向根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9860" y="2222500"/>
            <a:ext cx="1948815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状态定义：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29940" y="2233295"/>
            <a:ext cx="601853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dp[i]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为根的子树的最大子树和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9704705" y="2252732"/>
            <a:ext cx="1743710" cy="2691765"/>
            <a:chOff x="15283" y="4259"/>
            <a:chExt cx="2746" cy="4239"/>
          </a:xfrm>
        </p:grpSpPr>
        <p:sp>
          <p:nvSpPr>
            <p:cNvPr id="5" name="椭圆 4"/>
            <p:cNvSpPr/>
            <p:nvPr/>
          </p:nvSpPr>
          <p:spPr>
            <a:xfrm>
              <a:off x="16963" y="4259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1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6187" y="5743"/>
              <a:ext cx="938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-2</a:t>
              </a:r>
            </a:p>
          </p:txBody>
        </p:sp>
        <p:sp>
          <p:nvSpPr>
            <p:cNvPr id="7" name="椭圆 6"/>
            <p:cNvSpPr/>
            <p:nvPr/>
          </p:nvSpPr>
          <p:spPr>
            <a:xfrm>
              <a:off x="15283" y="7476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1</a:t>
              </a:r>
            </a:p>
          </p:txBody>
        </p:sp>
        <p:sp>
          <p:nvSpPr>
            <p:cNvPr id="8" name="椭圆 7"/>
            <p:cNvSpPr/>
            <p:nvPr/>
          </p:nvSpPr>
          <p:spPr>
            <a:xfrm>
              <a:off x="17125" y="7476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5</a:t>
              </a:r>
            </a:p>
          </p:txBody>
        </p:sp>
        <p:cxnSp>
          <p:nvCxnSpPr>
            <p:cNvPr id="9" name="直接连接符 8"/>
            <p:cNvCxnSpPr>
              <a:stCxn id="5" idx="3"/>
              <a:endCxn id="6" idx="0"/>
            </p:cNvCxnSpPr>
            <p:nvPr/>
          </p:nvCxnSpPr>
          <p:spPr>
            <a:xfrm flipH="1">
              <a:off x="16656" y="5131"/>
              <a:ext cx="439" cy="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stCxn id="6" idx="3"/>
              <a:endCxn id="7" idx="0"/>
            </p:cNvCxnSpPr>
            <p:nvPr/>
          </p:nvCxnSpPr>
          <p:spPr>
            <a:xfrm flipH="1">
              <a:off x="15735" y="6615"/>
              <a:ext cx="589" cy="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6" idx="5"/>
              <a:endCxn id="8" idx="0"/>
            </p:cNvCxnSpPr>
            <p:nvPr/>
          </p:nvCxnSpPr>
          <p:spPr>
            <a:xfrm>
              <a:off x="16988" y="6615"/>
              <a:ext cx="589" cy="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1419860" y="2856865"/>
            <a:ext cx="1948815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29940" y="2856865"/>
            <a:ext cx="601853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dp[i]+=dp[j] {dp[j]&gt;0,j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的所有儿子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19225" y="4871720"/>
            <a:ext cx="857250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枚举实现：</a:t>
            </a:r>
            <a:b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思考正常的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遍历树的顺序下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，如何操作才能满足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无后效性？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719580" y="5795645"/>
            <a:ext cx="762889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先递归，回溯后转移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19225" y="3531870"/>
            <a:ext cx="6029325" cy="5054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如何保证选择的部分一定是连续的？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709420" y="4135755"/>
            <a:ext cx="6018530" cy="492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dp[i]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定义：一定包含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例题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最大子树和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细节思考：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19860" y="2222500"/>
            <a:ext cx="1948815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29940" y="2233295"/>
            <a:ext cx="601853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dp[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叶子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9860" y="3122295"/>
            <a:ext cx="1948815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树根：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29940" y="3122295"/>
            <a:ext cx="6018530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对于无根树：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随便选一个点作为树根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每个点都要作为树根做一遍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438275" y="4262755"/>
            <a:ext cx="1948815" cy="73469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48355" y="4262755"/>
            <a:ext cx="6018530" cy="492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dp[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3" grpId="0"/>
      <p:bldP spid="14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例题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最大子树和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4676775" cy="50355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19225" y="2002155"/>
            <a:ext cx="9382760" cy="424053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dfs(int now,int fa){//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vis[]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dp[now]=a[now];//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叶子结点初始化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任意点都要加上自己的值</a:t>
            </a:r>
          </a:p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for(int i=0;i&lt;g[now].size();i++){</a:t>
            </a: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int son=g[now][i];</a:t>
            </a: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if(son==fa) continue;//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无向边需要判断，有向树不需要</a:t>
            </a:r>
          </a:p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dfs(son,now);</a:t>
            </a: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if(dp[son]&gt;0) dp[now]+=dp[son];</a:t>
            </a: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19225" y="6242685"/>
            <a:ext cx="2394585" cy="50355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17595" y="6242685"/>
            <a:ext cx="1337945" cy="50355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三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练习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43408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团队——“动态规划——树形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P1122 最大子树和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P1352 没有上司的舞会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经典小变形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P2016 战略游戏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同上重题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P2458 保安站岗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思维变形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P1131 时态同步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思维变形，做法很多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P3554 LUK-Triumphal arch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附加题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三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练习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上司舞会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43408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题目关键点：父亲和儿子不能同时选择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状态定义：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dp[i]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为根的子树获得的最大快乐指数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思考：如何决定当前点是否要选？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732915" y="3371850"/>
            <a:ext cx="1640840" cy="2691765"/>
            <a:chOff x="3564" y="4889"/>
            <a:chExt cx="2584" cy="4239"/>
          </a:xfrm>
        </p:grpSpPr>
        <p:sp>
          <p:nvSpPr>
            <p:cNvPr id="5" name="椭圆 4"/>
            <p:cNvSpPr/>
            <p:nvPr/>
          </p:nvSpPr>
          <p:spPr>
            <a:xfrm>
              <a:off x="5244" y="4889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5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4468" y="6373"/>
              <a:ext cx="938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2</a:t>
              </a:r>
            </a:p>
          </p:txBody>
        </p:sp>
        <p:sp>
          <p:nvSpPr>
            <p:cNvPr id="7" name="椭圆 6"/>
            <p:cNvSpPr/>
            <p:nvPr/>
          </p:nvSpPr>
          <p:spPr>
            <a:xfrm>
              <a:off x="3564" y="8106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</a:p>
          </p:txBody>
        </p:sp>
        <p:cxnSp>
          <p:nvCxnSpPr>
            <p:cNvPr id="9" name="直接连接符 8"/>
            <p:cNvCxnSpPr>
              <a:stCxn id="5" idx="3"/>
              <a:endCxn id="6" idx="0"/>
            </p:cNvCxnSpPr>
            <p:nvPr/>
          </p:nvCxnSpPr>
          <p:spPr>
            <a:xfrm flipH="1">
              <a:off x="4937" y="5761"/>
              <a:ext cx="439" cy="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stCxn id="6" idx="3"/>
              <a:endCxn id="7" idx="0"/>
            </p:cNvCxnSpPr>
            <p:nvPr/>
          </p:nvCxnSpPr>
          <p:spPr>
            <a:xfrm flipH="1">
              <a:off x="4016" y="7245"/>
              <a:ext cx="589" cy="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B9315A8-D16E-BAB9-9825-284B11B4BAED}"/>
              </a:ext>
            </a:extLst>
          </p:cNvPr>
          <p:cNvGrpSpPr/>
          <p:nvPr/>
        </p:nvGrpSpPr>
        <p:grpSpPr>
          <a:xfrm>
            <a:off x="4165722" y="3429000"/>
            <a:ext cx="1640840" cy="2691765"/>
            <a:chOff x="3564" y="4889"/>
            <a:chExt cx="2584" cy="4239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AE5EA14F-6A29-4243-1DB0-63A0CAE3096D}"/>
                </a:ext>
              </a:extLst>
            </p:cNvPr>
            <p:cNvSpPr/>
            <p:nvPr/>
          </p:nvSpPr>
          <p:spPr>
            <a:xfrm>
              <a:off x="5244" y="4889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5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61C3318-E6F2-1993-1EFC-CB35E8B502E6}"/>
                </a:ext>
              </a:extLst>
            </p:cNvPr>
            <p:cNvSpPr/>
            <p:nvPr/>
          </p:nvSpPr>
          <p:spPr>
            <a:xfrm>
              <a:off x="4468" y="6373"/>
              <a:ext cx="938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2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11855D1-70E9-56AB-7BC1-9B7A5F46D6EB}"/>
                </a:ext>
              </a:extLst>
            </p:cNvPr>
            <p:cNvSpPr/>
            <p:nvPr/>
          </p:nvSpPr>
          <p:spPr>
            <a:xfrm>
              <a:off x="3564" y="8106"/>
              <a:ext cx="904" cy="10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CAF1F79-F078-4830-FC75-348C21FDA77F}"/>
                </a:ext>
              </a:extLst>
            </p:cNvPr>
            <p:cNvCxnSpPr>
              <a:stCxn id="3" idx="3"/>
              <a:endCxn id="8" idx="0"/>
            </p:cNvCxnSpPr>
            <p:nvPr/>
          </p:nvCxnSpPr>
          <p:spPr>
            <a:xfrm flipH="1">
              <a:off x="4937" y="5761"/>
              <a:ext cx="439" cy="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4990F77-FAAB-BAD4-2311-A41CA641896F}"/>
                </a:ext>
              </a:extLst>
            </p:cNvPr>
            <p:cNvCxnSpPr>
              <a:stCxn id="8" idx="3"/>
              <a:endCxn id="12" idx="0"/>
            </p:cNvCxnSpPr>
            <p:nvPr/>
          </p:nvCxnSpPr>
          <p:spPr>
            <a:xfrm flipH="1">
              <a:off x="4016" y="7245"/>
              <a:ext cx="589" cy="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26E2D42-1879-434D-0E5D-5B349A1DCF84}"/>
              </a:ext>
            </a:extLst>
          </p:cNvPr>
          <p:cNvGrpSpPr/>
          <p:nvPr/>
        </p:nvGrpSpPr>
        <p:grpSpPr>
          <a:xfrm>
            <a:off x="6249932" y="3429000"/>
            <a:ext cx="2236470" cy="2691765"/>
            <a:chOff x="6249932" y="3429000"/>
            <a:chExt cx="2236470" cy="2691765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C2DF87C-0E60-AB5F-8EC6-972941B18A6C}"/>
                </a:ext>
              </a:extLst>
            </p:cNvPr>
            <p:cNvSpPr/>
            <p:nvPr/>
          </p:nvSpPr>
          <p:spPr>
            <a:xfrm>
              <a:off x="7316732" y="3429000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5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153BF9B-4FE7-43FE-9EAE-30AF5DF79C35}"/>
                </a:ext>
              </a:extLst>
            </p:cNvPr>
            <p:cNvSpPr/>
            <p:nvPr/>
          </p:nvSpPr>
          <p:spPr>
            <a:xfrm>
              <a:off x="6823972" y="4371340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F19FEE3-B93D-DEC8-C28B-2CE21010CC6B}"/>
                </a:ext>
              </a:extLst>
            </p:cNvPr>
            <p:cNvSpPr/>
            <p:nvPr/>
          </p:nvSpPr>
          <p:spPr>
            <a:xfrm>
              <a:off x="6249932" y="547179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DC571FB2-C809-70C8-9B9B-B3C8B2C4ABEB}"/>
                </a:ext>
              </a:extLst>
            </p:cNvPr>
            <p:cNvCxnSpPr>
              <a:stCxn id="17" idx="3"/>
              <a:endCxn id="18" idx="0"/>
            </p:cNvCxnSpPr>
            <p:nvPr/>
          </p:nvCxnSpPr>
          <p:spPr>
            <a:xfrm flipH="1">
              <a:off x="7121787" y="3982720"/>
              <a:ext cx="278765" cy="38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455B9E7-29BB-4D5F-2161-D8633B706829}"/>
                </a:ext>
              </a:extLst>
            </p:cNvPr>
            <p:cNvCxnSpPr>
              <a:stCxn id="18" idx="3"/>
              <a:endCxn id="19" idx="0"/>
            </p:cNvCxnSpPr>
            <p:nvPr/>
          </p:nvCxnSpPr>
          <p:spPr>
            <a:xfrm flipH="1">
              <a:off x="6536952" y="4925060"/>
              <a:ext cx="374015" cy="5467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CA9572B-9AE5-440B-528F-C7036D7AD02A}"/>
                </a:ext>
              </a:extLst>
            </p:cNvPr>
            <p:cNvSpPr/>
            <p:nvPr/>
          </p:nvSpPr>
          <p:spPr>
            <a:xfrm>
              <a:off x="7890772" y="4371340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9E4A896-0E1B-1952-464E-F57A476998BE}"/>
                </a:ext>
              </a:extLst>
            </p:cNvPr>
            <p:cNvCxnSpPr>
              <a:stCxn id="17" idx="5"/>
              <a:endCxn id="24" idx="0"/>
            </p:cNvCxnSpPr>
            <p:nvPr/>
          </p:nvCxnSpPr>
          <p:spPr>
            <a:xfrm>
              <a:off x="7806706" y="3982931"/>
              <a:ext cx="381881" cy="3884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三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练习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上司舞会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163049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更新状态定义：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dp[i][0]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为根的子树（不选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）获得的最大快乐指数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dp[i][1]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为根的子树（选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）获得的最大快乐指数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15EBEF-0E1B-E523-D752-31A9622EC3E2}"/>
              </a:ext>
            </a:extLst>
          </p:cNvPr>
          <p:cNvSpPr txBox="1"/>
          <p:nvPr/>
        </p:nvSpPr>
        <p:spPr>
          <a:xfrm>
            <a:off x="1419225" y="3646182"/>
            <a:ext cx="2464878" cy="14375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状态转移：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[i][0]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dp[i][1]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BBA8C7-FC87-3ED0-1814-302D4D333ADB}"/>
              </a:ext>
            </a:extLst>
          </p:cNvPr>
          <p:cNvSpPr txBox="1"/>
          <p:nvPr/>
        </p:nvSpPr>
        <p:spPr>
          <a:xfrm>
            <a:off x="3985564" y="4090799"/>
            <a:ext cx="3966508" cy="112715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[j][0]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[j][1]</a:t>
            </a:r>
          </a:p>
          <a:p>
            <a:pPr marL="0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[j][0]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BA7A591-023A-5AC5-636E-AB315CA6364F}"/>
              </a:ext>
            </a:extLst>
          </p:cNvPr>
          <p:cNvSpPr/>
          <p:nvPr/>
        </p:nvSpPr>
        <p:spPr>
          <a:xfrm flipH="1">
            <a:off x="3071164" y="4090799"/>
            <a:ext cx="914400" cy="372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5A2F4460-BD58-2E08-7FF0-72CA10A5A40C}"/>
              </a:ext>
            </a:extLst>
          </p:cNvPr>
          <p:cNvSpPr/>
          <p:nvPr/>
        </p:nvSpPr>
        <p:spPr>
          <a:xfrm flipH="1">
            <a:off x="3071164" y="5064330"/>
            <a:ext cx="914400" cy="372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四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树形背包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2658808"/>
            <a:ext cx="8973820" cy="57399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dp--&gt;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线性背包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dp--&gt;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树形背包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963985-4D0C-7049-B87C-9DC7AE134159}"/>
              </a:ext>
            </a:extLst>
          </p:cNvPr>
          <p:cNvSpPr txBox="1"/>
          <p:nvPr/>
        </p:nvSpPr>
        <p:spPr>
          <a:xfrm>
            <a:off x="1419225" y="3625201"/>
            <a:ext cx="8973820" cy="57399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在树形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的基础上，多加一个选择的限制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603FF0-8533-316A-0A92-1C6EB445AB5E}"/>
              </a:ext>
            </a:extLst>
          </p:cNvPr>
          <p:cNvSpPr txBox="1"/>
          <p:nvPr/>
        </p:nvSpPr>
        <p:spPr>
          <a:xfrm>
            <a:off x="1419225" y="4682352"/>
            <a:ext cx="8973820" cy="59313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大多数树形背包的容量是真实放入背包的数量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3A03D2-1520-6CB3-1049-1DC5CCC47585}"/>
              </a:ext>
            </a:extLst>
          </p:cNvPr>
          <p:cNvSpPr txBox="1"/>
          <p:nvPr/>
        </p:nvSpPr>
        <p:spPr>
          <a:xfrm>
            <a:off x="1419225" y="1682438"/>
            <a:ext cx="8973820" cy="7492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状态定义：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四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树形背包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079FC1-3B5C-5754-C948-1014B74F55A3}"/>
              </a:ext>
            </a:extLst>
          </p:cNvPr>
          <p:cNvSpPr txBox="1"/>
          <p:nvPr/>
        </p:nvSpPr>
        <p:spPr>
          <a:xfrm>
            <a:off x="1419225" y="2681392"/>
            <a:ext cx="8973820" cy="59561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线性背包：前置状态仅有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[i-1][]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的单一情况转移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875FF6-0960-9D6E-50CA-FCBE9293F235}"/>
              </a:ext>
            </a:extLst>
          </p:cNvPr>
          <p:cNvSpPr txBox="1"/>
          <p:nvPr/>
        </p:nvSpPr>
        <p:spPr>
          <a:xfrm>
            <a:off x="1419225" y="3762265"/>
            <a:ext cx="8973820" cy="7492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树形背包：前置状态是有多个儿子非单一情况转移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879721-BC72-CC6D-4655-A6877A6956C0}"/>
              </a:ext>
            </a:extLst>
          </p:cNvPr>
          <p:cNvSpPr txBox="1"/>
          <p:nvPr/>
        </p:nvSpPr>
        <p:spPr>
          <a:xfrm>
            <a:off x="1419225" y="4714205"/>
            <a:ext cx="8973820" cy="7653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增加一维状态的定义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ED44F7-CEBE-9910-10D1-AE5B28A0F39A}"/>
              </a:ext>
            </a:extLst>
          </p:cNvPr>
          <p:cNvSpPr txBox="1"/>
          <p:nvPr/>
        </p:nvSpPr>
        <p:spPr>
          <a:xfrm>
            <a:off x="1419225" y="1682438"/>
            <a:ext cx="8973820" cy="7492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23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四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树形背包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10560254" cy="445974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状态定义：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[now][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为根的子树，考虑前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个儿子的子树的情况下放入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个物品的最大价值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008109C-1EB0-80BA-B2DC-8A5DA9C32E1D}"/>
              </a:ext>
            </a:extLst>
          </p:cNvPr>
          <p:cNvSpPr txBox="1"/>
          <p:nvPr/>
        </p:nvSpPr>
        <p:spPr>
          <a:xfrm>
            <a:off x="5702097" y="4563503"/>
            <a:ext cx="1406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前面放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j-k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149DEC-4818-58FB-1CA7-1AC43941B910}"/>
              </a:ext>
            </a:extLst>
          </p:cNvPr>
          <p:cNvSpPr txBox="1"/>
          <p:nvPr/>
        </p:nvSpPr>
        <p:spPr>
          <a:xfrm>
            <a:off x="8939111" y="4560938"/>
            <a:ext cx="1406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当前放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1E3ECA-CC68-784B-E6BD-14FF9A095F04}"/>
              </a:ext>
            </a:extLst>
          </p:cNvPr>
          <p:cNvSpPr txBox="1"/>
          <p:nvPr/>
        </p:nvSpPr>
        <p:spPr>
          <a:xfrm>
            <a:off x="1419225" y="5574173"/>
            <a:ext cx="7980414" cy="76835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可以压缩为二维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9CA381-6709-D27C-6D04-204ACFE84622}"/>
              </a:ext>
            </a:extLst>
          </p:cNvPr>
          <p:cNvSpPr txBox="1"/>
          <p:nvPr/>
        </p:nvSpPr>
        <p:spPr>
          <a:xfrm>
            <a:off x="1419225" y="3255510"/>
            <a:ext cx="10560254" cy="117781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[now][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][j]=max(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[now][i-1][j-k]+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[son][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son.size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][k])</a:t>
            </a:r>
          </a:p>
        </p:txBody>
      </p:sp>
    </p:spTree>
    <p:extLst>
      <p:ext uri="{BB962C8B-B14F-4D97-AF65-F5344CB8AC3E}">
        <p14:creationId xmlns:p14="http://schemas.microsoft.com/office/powerpoint/2010/main" val="307098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四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树形背包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10560254" cy="46075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枚举实现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dfs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800" b="0" i="0" u="none" strike="noStrike" baseline="0" dirty="0">
                <a:latin typeface="Consolas" panose="020B0609020204030204" pitchFamily="49" charset="0"/>
              </a:rPr>
              <a:t>now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nn-NO" altLang="zh-CN" sz="1800" b="0" i="0" u="none" strike="noStrike" baseline="0" dirty="0">
                <a:latin typeface="Consolas" panose="020B0609020204030204" pitchFamily="49" charset="0"/>
              </a:rPr>
              <a:t>    </a:t>
            </a:r>
            <a:r>
              <a:rPr lang="nn-NO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nn-NO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i=0; i&lt;g[now].size(); i++) {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latin typeface="Consolas" panose="020B0609020204030204" pitchFamily="49" charset="0"/>
              </a:rPr>
              <a:t>       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son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=g[now][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latin typeface="Consolas" panose="020B0609020204030204" pitchFamily="49" charset="0"/>
              </a:rPr>
              <a:t>       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dfs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(son);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latin typeface="Consolas" panose="020B0609020204030204" pitchFamily="49" charset="0"/>
              </a:rPr>
              <a:t>       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=m; j&gt;=1; j--) </a:t>
            </a:r>
            <a:r>
              <a:rPr lang="en-US" altLang="zh-CN" sz="1800" b="0" i="0" u="none" strike="noStrike" baseline="0" dirty="0">
                <a:solidFill>
                  <a:schemeClr val="accent6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 b="0" i="0" u="none" strike="noStrike" baseline="0" dirty="0">
                <a:solidFill>
                  <a:schemeClr val="accent6"/>
                </a:solidFill>
                <a:latin typeface="Consolas" panose="020B0609020204030204" pitchFamily="49" charset="0"/>
              </a:rPr>
              <a:t>树形背包几乎为</a:t>
            </a:r>
            <a:r>
              <a:rPr lang="en-US" altLang="zh-CN" sz="1800" b="0" i="0" u="none" strike="noStrike" baseline="0" dirty="0">
                <a:solidFill>
                  <a:schemeClr val="accent6"/>
                </a:solidFill>
                <a:latin typeface="Consolas" panose="020B0609020204030204" pitchFamily="49" charset="0"/>
              </a:rPr>
              <a:t>01</a:t>
            </a:r>
            <a:r>
              <a:rPr lang="zh-CN" altLang="en-US" sz="1800" b="0" i="0" u="none" strike="noStrike" baseline="0" dirty="0">
                <a:solidFill>
                  <a:schemeClr val="accent6"/>
                </a:solidFill>
                <a:latin typeface="Consolas" panose="020B0609020204030204" pitchFamily="49" charset="0"/>
              </a:rPr>
              <a:t>背包模型</a:t>
            </a:r>
            <a:endParaRPr lang="en-US" altLang="zh-CN" sz="1800" b="0" i="0" u="none" strike="noStrike" baseline="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zh-CN" sz="1800" b="0" i="0" u="none" strike="noStrike" baseline="0" dirty="0">
                <a:latin typeface="Consolas" panose="020B0609020204030204" pitchFamily="49" charset="0"/>
              </a:rPr>
              <a:t>            </a:t>
            </a:r>
            <a:r>
              <a:rPr lang="pt-BR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altLang="zh-CN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pt-BR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k=</a:t>
            </a:r>
            <a:r>
              <a:rPr lang="pt-BR" altLang="zh-CN" sz="1800" b="0" i="0" u="none" strike="noStrike" baseline="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pt-BR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; k</a:t>
            </a:r>
            <a:r>
              <a:rPr lang="pt-BR" altLang="zh-CN" sz="1800" b="0" i="0" u="none" strike="noStrike" baseline="0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pt-BR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j</a:t>
            </a:r>
            <a:r>
              <a:rPr lang="pt-BR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lang="pt-BR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pt-BR" altLang="zh-CN" sz="1800" b="0" i="0" u="none" strike="noStrike" baseline="0" dirty="0">
                <a:solidFill>
                  <a:schemeClr val="accent6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 b="0" i="0" u="none" strike="noStrike" baseline="0" dirty="0">
                <a:solidFill>
                  <a:schemeClr val="accent6"/>
                </a:solidFill>
                <a:latin typeface="Consolas" panose="020B0609020204030204" pitchFamily="49" charset="0"/>
              </a:rPr>
              <a:t>树形背包一般是有依赖的，即</a:t>
            </a:r>
            <a:r>
              <a:rPr lang="en-US" altLang="zh-CN" sz="1800" b="0" i="0" u="none" strike="noStrike" baseline="0" dirty="0">
                <a:solidFill>
                  <a:schemeClr val="accent6"/>
                </a:solidFill>
                <a:latin typeface="Consolas" panose="020B0609020204030204" pitchFamily="49" charset="0"/>
              </a:rPr>
              <a:t>now</a:t>
            </a:r>
            <a:r>
              <a:rPr lang="zh-CN" altLang="en-US" sz="1800" b="0" i="0" u="none" strike="noStrike" baseline="0" dirty="0">
                <a:solidFill>
                  <a:schemeClr val="accent6"/>
                </a:solidFill>
                <a:latin typeface="Consolas" panose="020B0609020204030204" pitchFamily="49" charset="0"/>
              </a:rPr>
              <a:t>也要选</a:t>
            </a:r>
            <a:endParaRPr lang="pt-BR" altLang="zh-CN" sz="1800" b="0" i="0" u="none" strike="noStrike" baseline="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dp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[now][j]=max(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dp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[now][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dp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now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][j-k]+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dp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[son][k]);</a:t>
            </a:r>
          </a:p>
          <a:p>
            <a:pPr marL="0" indent="0">
              <a:buNone/>
            </a:pPr>
            <a:r>
              <a:rPr lang="zh-CN" altLang="en-US" sz="1800" b="0" i="0" u="none" strike="noStrike" baseline="0" dirty="0">
                <a:latin typeface="Consolas" panose="020B0609020204030204" pitchFamily="49" charset="0"/>
              </a:rPr>
              <a:t>   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9A2EAA-3289-D25F-2132-A389C7694372}"/>
              </a:ext>
            </a:extLst>
          </p:cNvPr>
          <p:cNvSpPr txBox="1"/>
          <p:nvPr/>
        </p:nvSpPr>
        <p:spPr>
          <a:xfrm>
            <a:off x="1419225" y="6242685"/>
            <a:ext cx="2394585" cy="50355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253AAD-2B74-B786-9B80-9AD4F05A06DE}"/>
              </a:ext>
            </a:extLst>
          </p:cNvPr>
          <p:cNvSpPr txBox="1"/>
          <p:nvPr/>
        </p:nvSpPr>
        <p:spPr>
          <a:xfrm>
            <a:off x="3617595" y="6242685"/>
            <a:ext cx="1337945" cy="50355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O(nm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915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五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练习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43408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团队——“动态规划——树形背包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P2014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模板，森林，虚节点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P2015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二叉苹果树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模板，点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边的变化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P1273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有线电视网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状态定义变换，优化时间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P1272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重建道路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不同的定义转移不同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P1270 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访问”美术馆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边权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P3177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树上染色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考虑“贡献”的影响，难题</a:t>
            </a:r>
          </a:p>
        </p:txBody>
      </p:sp>
    </p:spTree>
    <p:extLst>
      <p:ext uri="{BB962C8B-B14F-4D97-AF65-F5344CB8AC3E}">
        <p14:creationId xmlns:p14="http://schemas.microsoft.com/office/powerpoint/2010/main" val="173151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六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换根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</a:t>
            </a:r>
            <a:endParaRPr lang="zh-CN" altLang="en-US" sz="4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46075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对于无根树的操作：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树根是谁都无所谓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需要选择特定的树根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B69628-8238-1296-9EC0-677A61DE6924}"/>
              </a:ext>
            </a:extLst>
          </p:cNvPr>
          <p:cNvSpPr txBox="1"/>
          <p:nvPr/>
        </p:nvSpPr>
        <p:spPr>
          <a:xfrm>
            <a:off x="1419225" y="2505886"/>
            <a:ext cx="6187097" cy="76835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随便选一个点作为树根进行操作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B6E21C-38AC-DA1C-C342-3DBB7E926876}"/>
              </a:ext>
            </a:extLst>
          </p:cNvPr>
          <p:cNvSpPr txBox="1"/>
          <p:nvPr/>
        </p:nvSpPr>
        <p:spPr>
          <a:xfrm>
            <a:off x="1419225" y="4885979"/>
            <a:ext cx="8973820" cy="68238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优化：换根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38DE57-7A6D-EFE8-4D34-9039BE577CC5}"/>
              </a:ext>
            </a:extLst>
          </p:cNvPr>
          <p:cNvSpPr txBox="1"/>
          <p:nvPr/>
        </p:nvSpPr>
        <p:spPr>
          <a:xfrm>
            <a:off x="1419225" y="4210553"/>
            <a:ext cx="8973820" cy="74713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暴力：每个点都作为树根操作一次，选出最优解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802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六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换根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</a:t>
            </a:r>
            <a:endParaRPr lang="zh-CN" altLang="en-US" sz="4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76835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换根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75FABD-35DA-37A7-742E-0761857185F9}"/>
              </a:ext>
            </a:extLst>
          </p:cNvPr>
          <p:cNvSpPr txBox="1"/>
          <p:nvPr/>
        </p:nvSpPr>
        <p:spPr>
          <a:xfrm>
            <a:off x="1419225" y="2137696"/>
            <a:ext cx="8973820" cy="76835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通常需要两次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56ADC8-AD66-36B8-937D-7690BA487314}"/>
              </a:ext>
            </a:extLst>
          </p:cNvPr>
          <p:cNvSpPr txBox="1"/>
          <p:nvPr/>
        </p:nvSpPr>
        <p:spPr>
          <a:xfrm>
            <a:off x="1419225" y="2906046"/>
            <a:ext cx="8973820" cy="76835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预处理诸如深度，点权和之类的信息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E569FA-29D1-56AA-70E2-960E50EFAD59}"/>
              </a:ext>
            </a:extLst>
          </p:cNvPr>
          <p:cNvSpPr txBox="1"/>
          <p:nvPr/>
        </p:nvSpPr>
        <p:spPr>
          <a:xfrm>
            <a:off x="1419225" y="3550061"/>
            <a:ext cx="8973820" cy="120445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开始运行换根动态规划，考虑每次换根所提供的“贡献变化”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003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六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换根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</a:t>
            </a:r>
            <a:endParaRPr lang="zh-CN" altLang="en-US" sz="4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46075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例：给定一个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个点的树，请求出一个结点，使得以这个结点为根时，所有结点的深度之和最大。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3D908D-A1C2-A2DD-58C6-3EFCF321A5E7}"/>
              </a:ext>
            </a:extLst>
          </p:cNvPr>
          <p:cNvSpPr txBox="1"/>
          <p:nvPr/>
        </p:nvSpPr>
        <p:spPr>
          <a:xfrm>
            <a:off x="1419225" y="2998839"/>
            <a:ext cx="8973820" cy="8849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不妨令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为当前结点，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为当前结点的子结点。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72D6D7-AED2-A681-890F-42E27E4A6AC2}"/>
              </a:ext>
            </a:extLst>
          </p:cNvPr>
          <p:cNvSpPr txBox="1"/>
          <p:nvPr/>
        </p:nvSpPr>
        <p:spPr>
          <a:xfrm>
            <a:off x="1419225" y="5063613"/>
            <a:ext cx="8973820" cy="87507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为根时，所有结点的深度之和。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4744AE-2A68-D2C4-61D1-CE1F3B682C27}"/>
              </a:ext>
            </a:extLst>
          </p:cNvPr>
          <p:cNvSpPr txBox="1"/>
          <p:nvPr/>
        </p:nvSpPr>
        <p:spPr>
          <a:xfrm>
            <a:off x="1419225" y="3883743"/>
            <a:ext cx="8973820" cy="108869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为根的子树中的结点个数，并且有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∑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396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六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换根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</a:t>
            </a:r>
            <a:endParaRPr lang="zh-CN" altLang="en-US" sz="4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91030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，随便选一个结点为根（假设为点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028693-A98E-CF97-8F6C-1DC8AFCC38DF}"/>
              </a:ext>
            </a:extLst>
          </p:cNvPr>
          <p:cNvSpPr txBox="1"/>
          <p:nvPr/>
        </p:nvSpPr>
        <p:spPr>
          <a:xfrm>
            <a:off x="1419225" y="4812149"/>
            <a:ext cx="8973820" cy="127964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为根的答案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853160-126F-101E-03A7-90C482B48A4B}"/>
              </a:ext>
            </a:extLst>
          </p:cNvPr>
          <p:cNvSpPr txBox="1"/>
          <p:nvPr/>
        </p:nvSpPr>
        <p:spPr>
          <a:xfrm>
            <a:off x="1419225" y="2917864"/>
            <a:ext cx="8973820" cy="138677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预处理计算所有的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得到以某个结点为根时其子树中的结点总数。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092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六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换根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</a:t>
            </a:r>
            <a:endParaRPr lang="zh-CN" altLang="en-US" sz="4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22102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考虑原本以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为根的树变为以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为根的树如何转移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在换根的转移过程中，以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为根或以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为根会导致其子树中的结点的深度产生改变。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8768537-6AE8-E69F-D122-973062575B54}"/>
              </a:ext>
            </a:extLst>
          </p:cNvPr>
          <p:cNvGrpSpPr/>
          <p:nvPr/>
        </p:nvGrpSpPr>
        <p:grpSpPr>
          <a:xfrm>
            <a:off x="2127781" y="3739935"/>
            <a:ext cx="3184629" cy="2761297"/>
            <a:chOff x="2127781" y="3739935"/>
            <a:chExt cx="3184629" cy="2761297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E03C1E54-F757-42C8-BE1E-F5B4D0E936ED}"/>
                </a:ext>
              </a:extLst>
            </p:cNvPr>
            <p:cNvSpPr/>
            <p:nvPr/>
          </p:nvSpPr>
          <p:spPr>
            <a:xfrm>
              <a:off x="3660775" y="373993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u</a:t>
              </a: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2C21304-7831-0427-7304-3D16FE43A232}"/>
                </a:ext>
              </a:extLst>
            </p:cNvPr>
            <p:cNvSpPr/>
            <p:nvPr/>
          </p:nvSpPr>
          <p:spPr>
            <a:xfrm>
              <a:off x="2880995" y="4744720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4F9A34A-0F89-B3A2-FE46-5A1046E571E0}"/>
                </a:ext>
              </a:extLst>
            </p:cNvPr>
            <p:cNvSpPr/>
            <p:nvPr/>
          </p:nvSpPr>
          <p:spPr>
            <a:xfrm>
              <a:off x="2127781" y="5852262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13AFE8E-B1F3-DD5D-5E94-BC699584F343}"/>
                </a:ext>
              </a:extLst>
            </p:cNvPr>
            <p:cNvCxnSpPr>
              <a:cxnSpLocks/>
              <a:stCxn id="3" idx="4"/>
              <a:endCxn id="5" idx="0"/>
            </p:cNvCxnSpPr>
            <p:nvPr/>
          </p:nvCxnSpPr>
          <p:spPr>
            <a:xfrm flipH="1">
              <a:off x="3178810" y="4388905"/>
              <a:ext cx="768985" cy="3558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4470640-D614-C6AD-0C61-E05B51DB77A9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 flipH="1">
              <a:off x="2414801" y="5393690"/>
              <a:ext cx="764009" cy="458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4A986AD-7873-90FE-F79A-5CD3C38DCA26}"/>
                </a:ext>
              </a:extLst>
            </p:cNvPr>
            <p:cNvSpPr/>
            <p:nvPr/>
          </p:nvSpPr>
          <p:spPr>
            <a:xfrm>
              <a:off x="3834130" y="4775835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k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0662BA-3AD5-53B9-EB16-272467C94E45}"/>
                </a:ext>
              </a:extLst>
            </p:cNvPr>
            <p:cNvSpPr/>
            <p:nvPr/>
          </p:nvSpPr>
          <p:spPr>
            <a:xfrm>
              <a:off x="3029903" y="5852262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q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EDE10FA-B02C-3B51-D15F-381A0199CD46}"/>
                </a:ext>
              </a:extLst>
            </p:cNvPr>
            <p:cNvSpPr/>
            <p:nvPr/>
          </p:nvSpPr>
          <p:spPr>
            <a:xfrm>
              <a:off x="4716780" y="4745519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w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65A4A9B-57E3-803C-E453-61F700FFB66A}"/>
                </a:ext>
              </a:extLst>
            </p:cNvPr>
            <p:cNvCxnSpPr>
              <a:cxnSpLocks/>
              <a:stCxn id="3" idx="4"/>
              <a:endCxn id="12" idx="0"/>
            </p:cNvCxnSpPr>
            <p:nvPr/>
          </p:nvCxnSpPr>
          <p:spPr>
            <a:xfrm>
              <a:off x="3947795" y="4388905"/>
              <a:ext cx="184150" cy="386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1B0B952-993D-8A4C-BABC-8BE13FDB4583}"/>
                </a:ext>
              </a:extLst>
            </p:cNvPr>
            <p:cNvCxnSpPr>
              <a:stCxn id="3" idx="4"/>
              <a:endCxn id="14" idx="0"/>
            </p:cNvCxnSpPr>
            <p:nvPr/>
          </p:nvCxnSpPr>
          <p:spPr>
            <a:xfrm>
              <a:off x="3947795" y="4388905"/>
              <a:ext cx="1066800" cy="3566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4D0F756-3F0B-56F7-E1C0-74557EC76A3F}"/>
                </a:ext>
              </a:extLst>
            </p:cNvPr>
            <p:cNvCxnSpPr>
              <a:cxnSpLocks/>
              <a:stCxn id="5" idx="4"/>
              <a:endCxn id="13" idx="0"/>
            </p:cNvCxnSpPr>
            <p:nvPr/>
          </p:nvCxnSpPr>
          <p:spPr>
            <a:xfrm>
              <a:off x="3178810" y="5393690"/>
              <a:ext cx="148908" cy="458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4E5F344A-E20F-9317-B7BB-9FDF6C631E44}"/>
                </a:ext>
              </a:extLst>
            </p:cNvPr>
            <p:cNvSpPr/>
            <p:nvPr/>
          </p:nvSpPr>
          <p:spPr>
            <a:xfrm>
              <a:off x="3864992" y="5852262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w</a:t>
              </a: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7BBB1D9-35B4-D933-60E6-4023F9FB5231}"/>
                </a:ext>
              </a:extLst>
            </p:cNvPr>
            <p:cNvCxnSpPr>
              <a:cxnSpLocks/>
              <a:stCxn id="5" idx="4"/>
              <a:endCxn id="48" idx="0"/>
            </p:cNvCxnSpPr>
            <p:nvPr/>
          </p:nvCxnSpPr>
          <p:spPr>
            <a:xfrm>
              <a:off x="3178810" y="5393690"/>
              <a:ext cx="983997" cy="458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F58E0B35-30B8-67C0-521E-A1AAD3734197}"/>
              </a:ext>
            </a:extLst>
          </p:cNvPr>
          <p:cNvGrpSpPr/>
          <p:nvPr/>
        </p:nvGrpSpPr>
        <p:grpSpPr>
          <a:xfrm>
            <a:off x="6558300" y="3739935"/>
            <a:ext cx="4009279" cy="2754210"/>
            <a:chOff x="6558300" y="3739935"/>
            <a:chExt cx="4009279" cy="2754210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B6EE766A-FB32-E410-1E47-30D060DA7215}"/>
                </a:ext>
              </a:extLst>
            </p:cNvPr>
            <p:cNvSpPr/>
            <p:nvPr/>
          </p:nvSpPr>
          <p:spPr>
            <a:xfrm>
              <a:off x="7912120" y="373993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</a:t>
              </a: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3B18998A-C200-F183-125E-AEE75782542D}"/>
                </a:ext>
              </a:extLst>
            </p:cNvPr>
            <p:cNvSpPr/>
            <p:nvPr/>
          </p:nvSpPr>
          <p:spPr>
            <a:xfrm>
              <a:off x="7132340" y="4744720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u</a:t>
              </a: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C84D974B-933E-5C65-7AFE-A64B017173EF}"/>
                </a:ext>
              </a:extLst>
            </p:cNvPr>
            <p:cNvSpPr/>
            <p:nvPr/>
          </p:nvSpPr>
          <p:spPr>
            <a:xfrm>
              <a:off x="6558300" y="584517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k</a:t>
              </a: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693DA907-E6BF-D538-C705-7DB03A091727}"/>
                </a:ext>
              </a:extLst>
            </p:cNvPr>
            <p:cNvCxnSpPr>
              <a:cxnSpLocks/>
              <a:stCxn id="37" idx="4"/>
              <a:endCxn id="38" idx="0"/>
            </p:cNvCxnSpPr>
            <p:nvPr/>
          </p:nvCxnSpPr>
          <p:spPr>
            <a:xfrm flipH="1">
              <a:off x="7430155" y="4388905"/>
              <a:ext cx="768985" cy="3558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4C851BB-3B5E-E6B0-67FB-EA11F0AB1D19}"/>
                </a:ext>
              </a:extLst>
            </p:cNvPr>
            <p:cNvCxnSpPr>
              <a:cxnSpLocks/>
              <a:stCxn id="38" idx="4"/>
              <a:endCxn id="39" idx="0"/>
            </p:cNvCxnSpPr>
            <p:nvPr/>
          </p:nvCxnSpPr>
          <p:spPr>
            <a:xfrm flipH="1">
              <a:off x="6845320" y="5393690"/>
              <a:ext cx="584835" cy="451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60BE20C-097D-AEBD-CE33-54B834EF7B2D}"/>
                </a:ext>
              </a:extLst>
            </p:cNvPr>
            <p:cNvSpPr/>
            <p:nvPr/>
          </p:nvSpPr>
          <p:spPr>
            <a:xfrm>
              <a:off x="8085475" y="4775835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</a:t>
              </a: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380593E-F903-A5C3-1D01-417DD088AD0E}"/>
                </a:ext>
              </a:extLst>
            </p:cNvPr>
            <p:cNvSpPr/>
            <p:nvPr/>
          </p:nvSpPr>
          <p:spPr>
            <a:xfrm>
              <a:off x="7603510" y="5845175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w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E246998A-9AAC-8921-2945-34132F411AF5}"/>
                </a:ext>
              </a:extLst>
            </p:cNvPr>
            <p:cNvSpPr/>
            <p:nvPr/>
          </p:nvSpPr>
          <p:spPr>
            <a:xfrm>
              <a:off x="9038610" y="4792027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q</a:t>
              </a: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C572A02-47F6-61E9-4848-FF59CB1EBF8B}"/>
                </a:ext>
              </a:extLst>
            </p:cNvPr>
            <p:cNvCxnSpPr>
              <a:cxnSpLocks/>
              <a:stCxn id="37" idx="4"/>
              <a:endCxn id="42" idx="0"/>
            </p:cNvCxnSpPr>
            <p:nvPr/>
          </p:nvCxnSpPr>
          <p:spPr>
            <a:xfrm>
              <a:off x="8199140" y="4388905"/>
              <a:ext cx="184150" cy="386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DE084DB-6B71-AA60-D277-039B662C0E5E}"/>
                </a:ext>
              </a:extLst>
            </p:cNvPr>
            <p:cNvCxnSpPr>
              <a:stCxn id="37" idx="4"/>
              <a:endCxn id="44" idx="0"/>
            </p:cNvCxnSpPr>
            <p:nvPr/>
          </p:nvCxnSpPr>
          <p:spPr>
            <a:xfrm>
              <a:off x="8199140" y="4388905"/>
              <a:ext cx="1137285" cy="403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3D67C06-F67D-469E-92DB-C57E15BE93B4}"/>
                </a:ext>
              </a:extLst>
            </p:cNvPr>
            <p:cNvCxnSpPr>
              <a:cxnSpLocks/>
              <a:stCxn id="38" idx="4"/>
              <a:endCxn id="43" idx="0"/>
            </p:cNvCxnSpPr>
            <p:nvPr/>
          </p:nvCxnSpPr>
          <p:spPr>
            <a:xfrm>
              <a:off x="7430155" y="5393690"/>
              <a:ext cx="471170" cy="451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ED7D918B-8C82-A9A5-81B0-8D72208DB792}"/>
                </a:ext>
              </a:extLst>
            </p:cNvPr>
            <p:cNvSpPr/>
            <p:nvPr/>
          </p:nvSpPr>
          <p:spPr>
            <a:xfrm>
              <a:off x="9971949" y="4775835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w</a:t>
              </a: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44EABA3-33D0-9D7D-6AAC-A157978228A0}"/>
                </a:ext>
              </a:extLst>
            </p:cNvPr>
            <p:cNvCxnSpPr>
              <a:cxnSpLocks/>
              <a:stCxn id="37" idx="4"/>
              <a:endCxn id="58" idx="0"/>
            </p:cNvCxnSpPr>
            <p:nvPr/>
          </p:nvCxnSpPr>
          <p:spPr>
            <a:xfrm>
              <a:off x="8199140" y="4388905"/>
              <a:ext cx="2070624" cy="386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945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六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换根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</a:t>
            </a:r>
            <a:endParaRPr lang="zh-CN" altLang="en-US" sz="4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77862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的子树上的结点深度都减少了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，那么总深度和就减少了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3373763-2126-6F78-9B9D-7C45FABA83B3}"/>
              </a:ext>
            </a:extLst>
          </p:cNvPr>
          <p:cNvSpPr txBox="1"/>
          <p:nvPr/>
        </p:nvSpPr>
        <p:spPr>
          <a:xfrm>
            <a:off x="1419225" y="2334016"/>
            <a:ext cx="8973820" cy="87794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所有不在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的子树上的结点深度都增加了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，那么总深度和就增加了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7E31C39-80F4-063F-104E-E8F81900CFD6}"/>
              </a:ext>
            </a:extLst>
          </p:cNvPr>
          <p:cNvSpPr txBox="1"/>
          <p:nvPr/>
        </p:nvSpPr>
        <p:spPr>
          <a:xfrm>
            <a:off x="1419225" y="3214336"/>
            <a:ext cx="8973820" cy="87794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推出状态转移方程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fu-sv+n-sv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=fu+n-2*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53E2DCF-6FB9-7275-619C-5DDE3A2C9077}"/>
              </a:ext>
            </a:extLst>
          </p:cNvPr>
          <p:cNvGrpSpPr/>
          <p:nvPr/>
        </p:nvGrpSpPr>
        <p:grpSpPr>
          <a:xfrm>
            <a:off x="2127781" y="3739935"/>
            <a:ext cx="3184629" cy="2761297"/>
            <a:chOff x="2127781" y="3739935"/>
            <a:chExt cx="3184629" cy="2761297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4D53370-8D64-DDC3-FDD6-AB781169E090}"/>
                </a:ext>
              </a:extLst>
            </p:cNvPr>
            <p:cNvSpPr/>
            <p:nvPr/>
          </p:nvSpPr>
          <p:spPr>
            <a:xfrm>
              <a:off x="3660775" y="373993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u</a:t>
              </a: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1D204ED-ED3A-7B8A-755E-F1A200D5AC23}"/>
                </a:ext>
              </a:extLst>
            </p:cNvPr>
            <p:cNvSpPr/>
            <p:nvPr/>
          </p:nvSpPr>
          <p:spPr>
            <a:xfrm>
              <a:off x="2880995" y="4744720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0C09298-5F3F-3100-15DB-7C1A9E5F3DCC}"/>
                </a:ext>
              </a:extLst>
            </p:cNvPr>
            <p:cNvSpPr/>
            <p:nvPr/>
          </p:nvSpPr>
          <p:spPr>
            <a:xfrm>
              <a:off x="2127781" y="5852262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1336491-69E6-B275-92EB-7C7BC046A58F}"/>
                </a:ext>
              </a:extLst>
            </p:cNvPr>
            <p:cNvCxnSpPr>
              <a:cxnSpLocks/>
              <a:stCxn id="35" idx="4"/>
              <a:endCxn id="36" idx="0"/>
            </p:cNvCxnSpPr>
            <p:nvPr/>
          </p:nvCxnSpPr>
          <p:spPr>
            <a:xfrm flipH="1">
              <a:off x="3178810" y="4388905"/>
              <a:ext cx="768985" cy="3558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2F119CE6-79CD-CA0E-0A90-ECEEF43A143F}"/>
                </a:ext>
              </a:extLst>
            </p:cNvPr>
            <p:cNvCxnSpPr>
              <a:cxnSpLocks/>
              <a:stCxn id="36" idx="4"/>
              <a:endCxn id="37" idx="0"/>
            </p:cNvCxnSpPr>
            <p:nvPr/>
          </p:nvCxnSpPr>
          <p:spPr>
            <a:xfrm flipH="1">
              <a:off x="2414801" y="5393690"/>
              <a:ext cx="764009" cy="458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59B9D2DD-25C7-AB0C-5BD6-F4307A781E54}"/>
                </a:ext>
              </a:extLst>
            </p:cNvPr>
            <p:cNvSpPr/>
            <p:nvPr/>
          </p:nvSpPr>
          <p:spPr>
            <a:xfrm>
              <a:off x="3834130" y="4775835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k</a:t>
              </a: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BAF8D29A-3B0E-CF0A-7119-176C5D0FBD70}"/>
                </a:ext>
              </a:extLst>
            </p:cNvPr>
            <p:cNvSpPr/>
            <p:nvPr/>
          </p:nvSpPr>
          <p:spPr>
            <a:xfrm>
              <a:off x="3029903" y="5852262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q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F3AD472-D64E-8EEC-3051-1EAA6AA8F396}"/>
                </a:ext>
              </a:extLst>
            </p:cNvPr>
            <p:cNvSpPr/>
            <p:nvPr/>
          </p:nvSpPr>
          <p:spPr>
            <a:xfrm>
              <a:off x="4716780" y="4745519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w</a:t>
              </a: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1DE8472-6497-6996-EF6B-ED7A24BCE865}"/>
                </a:ext>
              </a:extLst>
            </p:cNvPr>
            <p:cNvCxnSpPr>
              <a:cxnSpLocks/>
              <a:stCxn id="35" idx="4"/>
              <a:endCxn id="40" idx="0"/>
            </p:cNvCxnSpPr>
            <p:nvPr/>
          </p:nvCxnSpPr>
          <p:spPr>
            <a:xfrm>
              <a:off x="3947795" y="4388905"/>
              <a:ext cx="184150" cy="386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F800052-7A0E-62E3-F3E3-FC348DABC97A}"/>
                </a:ext>
              </a:extLst>
            </p:cNvPr>
            <p:cNvCxnSpPr>
              <a:stCxn id="35" idx="4"/>
              <a:endCxn id="42" idx="0"/>
            </p:cNvCxnSpPr>
            <p:nvPr/>
          </p:nvCxnSpPr>
          <p:spPr>
            <a:xfrm>
              <a:off x="3947795" y="4388905"/>
              <a:ext cx="1066800" cy="3566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ECF0D97-D336-B3A1-7551-A48F572A31B6}"/>
                </a:ext>
              </a:extLst>
            </p:cNvPr>
            <p:cNvCxnSpPr>
              <a:cxnSpLocks/>
              <a:stCxn id="36" idx="4"/>
              <a:endCxn id="41" idx="0"/>
            </p:cNvCxnSpPr>
            <p:nvPr/>
          </p:nvCxnSpPr>
          <p:spPr>
            <a:xfrm>
              <a:off x="3178810" y="5393690"/>
              <a:ext cx="148908" cy="458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DDA5E7DE-DF30-6FC0-74E6-141108354738}"/>
                </a:ext>
              </a:extLst>
            </p:cNvPr>
            <p:cNvSpPr/>
            <p:nvPr/>
          </p:nvSpPr>
          <p:spPr>
            <a:xfrm>
              <a:off x="3864992" y="5852262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w</a:t>
              </a: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E9DBF40-AEA8-1657-FDE0-BA18C8796DF5}"/>
                </a:ext>
              </a:extLst>
            </p:cNvPr>
            <p:cNvCxnSpPr>
              <a:cxnSpLocks/>
              <a:stCxn id="36" idx="4"/>
              <a:endCxn id="46" idx="0"/>
            </p:cNvCxnSpPr>
            <p:nvPr/>
          </p:nvCxnSpPr>
          <p:spPr>
            <a:xfrm>
              <a:off x="3178810" y="5393690"/>
              <a:ext cx="983997" cy="458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58084EA-9514-64BD-9498-72CC0D769922}"/>
              </a:ext>
            </a:extLst>
          </p:cNvPr>
          <p:cNvGrpSpPr/>
          <p:nvPr/>
        </p:nvGrpSpPr>
        <p:grpSpPr>
          <a:xfrm>
            <a:off x="6558300" y="3739935"/>
            <a:ext cx="4009279" cy="2754210"/>
            <a:chOff x="6558300" y="3739935"/>
            <a:chExt cx="4009279" cy="2754210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249DBC10-E490-D733-27AB-3237ADB5BFCF}"/>
                </a:ext>
              </a:extLst>
            </p:cNvPr>
            <p:cNvSpPr/>
            <p:nvPr/>
          </p:nvSpPr>
          <p:spPr>
            <a:xfrm>
              <a:off x="7912120" y="373993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</a:t>
              </a: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FA1CA4FD-9BCB-9E98-6659-BD1D829CE227}"/>
                </a:ext>
              </a:extLst>
            </p:cNvPr>
            <p:cNvSpPr/>
            <p:nvPr/>
          </p:nvSpPr>
          <p:spPr>
            <a:xfrm>
              <a:off x="7132340" y="4744720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u</a:t>
              </a: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2ABDFF6D-8500-E095-F30A-DEBD1B162192}"/>
                </a:ext>
              </a:extLst>
            </p:cNvPr>
            <p:cNvSpPr/>
            <p:nvPr/>
          </p:nvSpPr>
          <p:spPr>
            <a:xfrm>
              <a:off x="6558300" y="5845175"/>
              <a:ext cx="57404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k</a:t>
              </a: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BAA4C414-C5A7-D9FA-0643-E3677474079D}"/>
                </a:ext>
              </a:extLst>
            </p:cNvPr>
            <p:cNvCxnSpPr>
              <a:cxnSpLocks/>
              <a:stCxn id="49" idx="4"/>
              <a:endCxn id="50" idx="0"/>
            </p:cNvCxnSpPr>
            <p:nvPr/>
          </p:nvCxnSpPr>
          <p:spPr>
            <a:xfrm flipH="1">
              <a:off x="7430155" y="4388905"/>
              <a:ext cx="768985" cy="3558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3C899EC3-CA9B-4271-2103-C05BC93473B5}"/>
                </a:ext>
              </a:extLst>
            </p:cNvPr>
            <p:cNvCxnSpPr>
              <a:cxnSpLocks/>
              <a:stCxn id="50" idx="4"/>
              <a:endCxn id="51" idx="0"/>
            </p:cNvCxnSpPr>
            <p:nvPr/>
          </p:nvCxnSpPr>
          <p:spPr>
            <a:xfrm flipH="1">
              <a:off x="6845320" y="5393690"/>
              <a:ext cx="584835" cy="451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EEC9B28D-ACB9-B501-A962-CF871CE14698}"/>
                </a:ext>
              </a:extLst>
            </p:cNvPr>
            <p:cNvSpPr/>
            <p:nvPr/>
          </p:nvSpPr>
          <p:spPr>
            <a:xfrm>
              <a:off x="8085475" y="4775835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</a:t>
              </a: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885F5009-D13D-1EF2-E8DC-A690DAC6AC0A}"/>
                </a:ext>
              </a:extLst>
            </p:cNvPr>
            <p:cNvSpPr/>
            <p:nvPr/>
          </p:nvSpPr>
          <p:spPr>
            <a:xfrm>
              <a:off x="7603510" y="5845175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w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F96D61F3-6AA7-F365-0BFB-D6D5C471BC72}"/>
                </a:ext>
              </a:extLst>
            </p:cNvPr>
            <p:cNvSpPr/>
            <p:nvPr/>
          </p:nvSpPr>
          <p:spPr>
            <a:xfrm>
              <a:off x="9038610" y="4792027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q</a:t>
              </a: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1609BF72-68F1-0F2C-A297-8C4D6F307E3D}"/>
                </a:ext>
              </a:extLst>
            </p:cNvPr>
            <p:cNvCxnSpPr>
              <a:cxnSpLocks/>
              <a:stCxn id="49" idx="4"/>
              <a:endCxn id="54" idx="0"/>
            </p:cNvCxnSpPr>
            <p:nvPr/>
          </p:nvCxnSpPr>
          <p:spPr>
            <a:xfrm>
              <a:off x="8199140" y="4388905"/>
              <a:ext cx="184150" cy="386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74E1BBF-06C7-FE05-3EC7-FB9D4F5EAD3F}"/>
                </a:ext>
              </a:extLst>
            </p:cNvPr>
            <p:cNvCxnSpPr>
              <a:stCxn id="49" idx="4"/>
              <a:endCxn id="56" idx="0"/>
            </p:cNvCxnSpPr>
            <p:nvPr/>
          </p:nvCxnSpPr>
          <p:spPr>
            <a:xfrm>
              <a:off x="8199140" y="4388905"/>
              <a:ext cx="1137285" cy="403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1AAEE639-D243-E958-FD70-DFF7810D09B0}"/>
                </a:ext>
              </a:extLst>
            </p:cNvPr>
            <p:cNvCxnSpPr>
              <a:cxnSpLocks/>
              <a:stCxn id="50" idx="4"/>
              <a:endCxn id="55" idx="0"/>
            </p:cNvCxnSpPr>
            <p:nvPr/>
          </p:nvCxnSpPr>
          <p:spPr>
            <a:xfrm>
              <a:off x="7430155" y="5393690"/>
              <a:ext cx="471170" cy="451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E4EB3C32-852F-A097-27B3-BDD7FD1CB4FC}"/>
                </a:ext>
              </a:extLst>
            </p:cNvPr>
            <p:cNvSpPr/>
            <p:nvPr/>
          </p:nvSpPr>
          <p:spPr>
            <a:xfrm>
              <a:off x="9971949" y="4775835"/>
              <a:ext cx="595630" cy="6489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w</a:t>
              </a: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D5110C56-E185-E0D5-245D-715A7DEBBBC8}"/>
                </a:ext>
              </a:extLst>
            </p:cNvPr>
            <p:cNvCxnSpPr>
              <a:cxnSpLocks/>
              <a:stCxn id="49" idx="4"/>
              <a:endCxn id="60" idx="0"/>
            </p:cNvCxnSpPr>
            <p:nvPr/>
          </p:nvCxnSpPr>
          <p:spPr>
            <a:xfrm>
              <a:off x="8199140" y="4388905"/>
              <a:ext cx="2070624" cy="386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819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/>
      <p:bldP spid="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六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换根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DP</a:t>
            </a:r>
            <a:endParaRPr lang="zh-CN" altLang="en-US" sz="4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46075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 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仍从第一次的起点进入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CD35E7-6285-56FE-8872-37AB11378138}"/>
              </a:ext>
            </a:extLst>
          </p:cNvPr>
          <p:cNvSpPr txBox="1"/>
          <p:nvPr/>
        </p:nvSpPr>
        <p:spPr>
          <a:xfrm>
            <a:off x="1419225" y="2293866"/>
            <a:ext cx="8973820" cy="139323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对于当前点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，枚举邻接表中的边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u,v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状态转移求出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=fu+n-2*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sv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1A2928-5206-ED19-A4D6-3CF8237414D8}"/>
              </a:ext>
            </a:extLst>
          </p:cNvPr>
          <p:cNvSpPr txBox="1"/>
          <p:nvPr/>
        </p:nvSpPr>
        <p:spPr>
          <a:xfrm>
            <a:off x="1419225" y="3840481"/>
            <a:ext cx="8973820" cy="83967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遍历整棵树即可求出所以的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8D93D0-A887-C68C-587B-5D8547772517}"/>
              </a:ext>
            </a:extLst>
          </p:cNvPr>
          <p:cNvSpPr txBox="1"/>
          <p:nvPr/>
        </p:nvSpPr>
        <p:spPr>
          <a:xfrm>
            <a:off x="1419225" y="4980235"/>
            <a:ext cx="8973820" cy="9631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max(fi)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即为答案。</a:t>
            </a:r>
          </a:p>
        </p:txBody>
      </p:sp>
    </p:spTree>
    <p:extLst>
      <p:ext uri="{BB962C8B-B14F-4D97-AF65-F5344CB8AC3E}">
        <p14:creationId xmlns:p14="http://schemas.microsoft.com/office/powerpoint/2010/main" val="416945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七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练习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43408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团队——“动态规划——换根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P3478 STA-Station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P2986 Great Cow Gathering G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P3047 Nearby Cows G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变型，思维套路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CF708C Centroids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重心的考点，较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难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P6419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Kamp				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附加题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P3647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连珠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		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附加题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314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七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练习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43408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P3047 Nearby Cows G		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简化问题为：求每个节点以他为根的子树的答案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发现节点为根时，整棵树的节点就是他所有的子树节点，即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就是原答案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得到换根求解的结论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换根的式子较为复杂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561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609600" y="277813"/>
            <a:ext cx="10972800" cy="11398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总结回顾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841514" y="1600200"/>
            <a:ext cx="8229600" cy="485838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树形</a:t>
            </a:r>
            <a:r>
              <a:rPr lang="en-US" altLang="zh-CN" sz="4000" kern="0" dirty="0">
                <a:solidFill>
                  <a:srgbClr val="000000"/>
                </a:solidFill>
                <a:latin typeface="Verdana" panose="020B0604030504040204"/>
                <a:ea typeface="宋体" panose="02010600030101010101" pitchFamily="2" charset="-122"/>
              </a:rPr>
              <a:t>DP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3200" kern="0" dirty="0">
                <a:solidFill>
                  <a:srgbClr val="000000"/>
                </a:solidFill>
                <a:latin typeface="Verdana"/>
                <a:ea typeface="宋体"/>
              </a:rPr>
              <a:t>从根到叶子推导</a:t>
            </a:r>
            <a:endParaRPr lang="en-US" altLang="zh-CN" sz="3200" kern="0" dirty="0">
              <a:solidFill>
                <a:srgbClr val="000000"/>
              </a:solidFill>
              <a:latin typeface="Verdana"/>
              <a:ea typeface="宋体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从叶子到根推导（重点）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树形背包</a:t>
            </a:r>
            <a:endParaRPr kumimoji="0" lang="en-US" altLang="zh-C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换根</a:t>
            </a: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DP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3200" kern="0" dirty="0">
                <a:solidFill>
                  <a:srgbClr val="000000"/>
                </a:solidFill>
                <a:latin typeface="Verdana"/>
                <a:ea typeface="宋体"/>
              </a:rPr>
              <a:t>换根产生的贡献</a:t>
            </a:r>
            <a:endParaRPr lang="en-US" altLang="zh-CN" sz="3200" kern="0" dirty="0">
              <a:solidFill>
                <a:srgbClr val="000000"/>
              </a:solidFill>
              <a:latin typeface="Verdana"/>
              <a:ea typeface="宋体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None/>
              <a:defRPr/>
            </a:pPr>
            <a:endParaRPr lang="zh-CN" altLang="en-US" sz="4000" kern="0" dirty="0">
              <a:solidFill>
                <a:srgbClr val="000000"/>
              </a:solidFill>
              <a:latin typeface="Verdana" panose="020B0604030504040204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None/>
              <a:defRPr/>
            </a:pP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09600" y="277813"/>
            <a:ext cx="10972800" cy="11398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课后练习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99082" y="1644141"/>
            <a:ext cx="8288802" cy="52322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zh-CN" altLang="en-US" sz="2800" b="1" noProof="1">
                <a:latin typeface="Hannotate SC" charset="-122"/>
                <a:ea typeface="Hannotate SC" charset="-122"/>
                <a:cs typeface="Hannotate SC" charset="-122"/>
              </a:rPr>
              <a:t>课上全部练习题</a:t>
            </a:r>
            <a:endParaRPr lang="en-US" altLang="zh-CN" sz="2800" b="1" noProof="1">
              <a:latin typeface="Hannotate SC" charset="-122"/>
              <a:ea typeface="Hannotate SC" charset="-122"/>
              <a:cs typeface="Hannotate SC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RmMmIzMjI3Mzg0ZTJlOTc4YTQzZjBkOTE0MzU4YW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1489</Words>
  <Application>Microsoft Office PowerPoint</Application>
  <PresentationFormat>宽屏</PresentationFormat>
  <Paragraphs>265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Hannotate SC</vt:lpstr>
      <vt:lpstr>Noto Sans S Chinese Light</vt:lpstr>
      <vt:lpstr>等线</vt:lpstr>
      <vt:lpstr>宋体</vt:lpstr>
      <vt:lpstr>微软雅黑</vt:lpstr>
      <vt:lpstr>Arial</vt:lpstr>
      <vt:lpstr>Consolas</vt:lpstr>
      <vt:lpstr>Garamond</vt:lpstr>
      <vt:lpstr>Verdana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1019378615@qq.com</dc:creator>
  <cp:lastModifiedBy>lenovo</cp:lastModifiedBy>
  <cp:revision>370</cp:revision>
  <dcterms:created xsi:type="dcterms:W3CDTF">2021-09-18T07:35:00Z</dcterms:created>
  <dcterms:modified xsi:type="dcterms:W3CDTF">2023-02-01T07:58:13Z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B57A25AD43F546C1BBE4D5EA1575B0B5</vt:lpwstr>
  </property>
  <property fmtid="{D5CDD505-2E9C-101B-9397-08002B2CF9AE}" pid="3" name="KSOProductBuildVer">
    <vt:lpwstr>2052-11.1.0.11411</vt:lpwstr>
  </property>
</Properties>
</file>